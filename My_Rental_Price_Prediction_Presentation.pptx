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_rels/notesSlide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3.xml.rels" ContentType="application/vnd.openxmlformats-package.relationships+xml"/>
  <Override PartName="/ppt/notesSlides/_rels/notesSlide4.xml.rels" ContentType="application/vnd.openxmlformats-package.relationships+xml"/>
  <Override PartName="/ppt/notesSlides/_rels/notesSlide5.xml.rels" ContentType="application/vnd.openxmlformats-package.relationships+xml"/>
  <Override PartName="/ppt/notesSlides/_rels/notesSlide6.xml.rels" ContentType="application/vnd.openxmlformats-package.relationships+xml"/>
  <Override PartName="/ppt/notesSlides/_rels/notesSlide7.xml.rels" ContentType="application/vnd.openxmlformats-package.relationships+xml"/>
  <Override PartName="/ppt/notesSlides/_rels/notesSlide8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11.xml.rels" ContentType="application/vnd.openxmlformats-package.relationships+xml"/>
  <Override PartName="/ppt/slideLayouts/slideLayout1.xml" ContentType="application/vnd.openxmlformats-officedocument.presentationml.slideLayout+xml"/>
  <Override PartName="/ppt/slideLayouts/_rels/slideLayout1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media/image9.png" ContentType="image/png"/>
  <Override PartName="/ppt/media/image10.png" ContentType="image/png"/>
  <Override PartName="/ppt/media/image11.png" ContentType="image/png"/>
  <Override PartName="/ppt/media/image12.png" ContentType="image/png"/>
  <Override PartName="/ppt/media/image13.png" ContentType="image/png"/>
  <Override PartName="/ppt/media/image14.png" ContentType="image/png"/>
  <Override PartName="/ppt/media/image15.png" ContentType="image/png"/>
  <Override PartName="/ppt/media/image16.png" ContentType="image/png"/>
  <Override PartName="/ppt/media/image17.png" ContentType="image/png"/>
  <Override PartName="/ppt/media/image18.png" ContentType="image/png"/>
  <Override PartName="/ppt/media/image19.png" ContentType="image/png"/>
  <Override PartName="/ppt/media/image20.png" ContentType="image/png"/>
  <Override PartName="/ppt/presProps.xml" ContentType="application/vnd.openxmlformats-officedocument.presentationml.presProps+xml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SG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b="0" lang="en-SG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SG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b="0" lang="en-SG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SG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SG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SG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SG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SG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SG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SG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SG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SG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E5835E15-1B12-4BBF-A6E0-38C7C6905E87}" type="slidenum">
              <a:rPr b="0" lang="en-SG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SG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SG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68B9567-D9D9-476C-AD70-FA034E474D90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en-SG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SG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6B86AB8-C7EE-4F6B-A9DA-3D2F6FDB5DC0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en-SG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SG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380DD5C-2083-447C-9B6D-085B460B5C06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en-SG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SG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E7F6815-DD60-498B-9011-67FF039ED614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en-SG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SG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459F86F-AA0C-49F2-9348-B863439E5F59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en-SG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SG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A737695-894F-4548-B527-52B47323512F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en-SG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SG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6949FB9-33E5-48B5-87D6-40E845360412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en-SG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SG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0804580-99CD-4741-9A45-AEF9B0E611A6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en-SG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SG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C2EED73-B3EC-4D2D-ADEA-04453B3AB1C4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en-SG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SG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275D572-48F4-4777-93E6-90BF882F8474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SG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SG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5917193-5006-4BA9-B0FA-3DCE470871F3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SG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SG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b="0" lang="en-SG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SG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SG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SG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SG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SG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SG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SG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SG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SG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SG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SG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SG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SG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SG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4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9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image" Target="../media/image17.png"/><Relationship Id="rId3" Type="http://schemas.openxmlformats.org/officeDocument/2006/relationships/image" Target="../media/image6.png"/><Relationship Id="rId4" Type="http://schemas.openxmlformats.org/officeDocument/2006/relationships/image" Target="../media/image1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5.png"/><Relationship Id="rId3" Type="http://schemas.openxmlformats.org/officeDocument/2006/relationships/image" Target="../media/image19.png"/><Relationship Id="rId4" Type="http://schemas.openxmlformats.org/officeDocument/2006/relationships/image" Target="../media/image7.png"/><Relationship Id="rId5" Type="http://schemas.openxmlformats.org/officeDocument/2006/relationships/image" Target="../media/image6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2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5413320" y="1051560"/>
            <a:ext cx="1371240" cy="137124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SG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" name="Image 0" descr="preencoded.png"/>
          <p:cNvPicPr/>
          <p:nvPr/>
        </p:nvPicPr>
        <p:blipFill>
          <a:blip r:embed="rId1"/>
          <a:stretch/>
        </p:blipFill>
        <p:spPr>
          <a:xfrm>
            <a:off x="5605200" y="1243440"/>
            <a:ext cx="987120" cy="987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" name="Text 1"/>
          <p:cNvSpPr/>
          <p:nvPr/>
        </p:nvSpPr>
        <p:spPr>
          <a:xfrm>
            <a:off x="914400" y="2788920"/>
            <a:ext cx="103597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000" strike="noStrike" u="non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My  Rent &amp; Investment Estimator</a:t>
            </a:r>
            <a:endParaRPr b="0" lang="en-SG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2"/>
          <p:cNvSpPr/>
          <p:nvPr/>
        </p:nvSpPr>
        <p:spPr>
          <a:xfrm>
            <a:off x="1371600" y="3611880"/>
            <a:ext cx="94453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bfd7e8"/>
                </a:solidFill>
                <a:effectLst/>
                <a:uFillTx/>
                <a:latin typeface="Calibri"/>
                <a:ea typeface="Calibri"/>
              </a:rPr>
              <a:t>End-to-End ML Pipeline, MLflow Tracking &amp; Deployment with AWS SageMaker</a:t>
            </a:r>
            <a:endParaRPr b="0" lang="en-SG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3"/>
          <p:cNvSpPr/>
          <p:nvPr/>
        </p:nvSpPr>
        <p:spPr>
          <a:xfrm>
            <a:off x="1371600" y="4800600"/>
            <a:ext cx="9445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8fa5b3"/>
                </a:solidFill>
                <a:effectLst/>
                <a:uFillTx/>
                <a:latin typeface="Calibri"/>
                <a:ea typeface="Calibri"/>
              </a:rPr>
              <a:t>ITI113 — Model Building and Machine Learning with AWS Sagemaker Studio </a:t>
            </a:r>
            <a:endParaRPr b="0" lang="en-SG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4"/>
          <p:cNvSpPr/>
          <p:nvPr/>
        </p:nvSpPr>
        <p:spPr>
          <a:xfrm>
            <a:off x="1371600" y="5166360"/>
            <a:ext cx="9445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8fa5b3"/>
                </a:solidFill>
                <a:effectLst/>
                <a:uFillTx/>
                <a:latin typeface="Calibri"/>
                <a:ea typeface="Calibri"/>
              </a:rPr>
              <a:t>Team 08   •   Presented by Terence Tye, Student ID 4697566D</a:t>
            </a:r>
            <a:endParaRPr b="0" lang="en-SG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0"/>
          <p:cNvSpPr/>
          <p:nvPr/>
        </p:nvSpPr>
        <p:spPr>
          <a:xfrm>
            <a:off x="548640" y="411480"/>
            <a:ext cx="73148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trike="noStrike" u="none">
                <a:solidFill>
                  <a:srgbClr val="1a2733"/>
                </a:solidFill>
                <a:effectLst/>
                <a:uFillTx/>
                <a:latin typeface="Cambria"/>
                <a:ea typeface="Cambria"/>
              </a:rPr>
              <a:t>Agenda</a:t>
            </a:r>
            <a:endParaRPr b="0" lang="en-SG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Shape 1"/>
          <p:cNvSpPr/>
          <p:nvPr/>
        </p:nvSpPr>
        <p:spPr>
          <a:xfrm>
            <a:off x="548640" y="1325880"/>
            <a:ext cx="566640" cy="56664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SG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6" name="Image 0" descr="preencoded.png"/>
          <p:cNvPicPr/>
          <p:nvPr/>
        </p:nvPicPr>
        <p:blipFill>
          <a:blip r:embed="rId1"/>
          <a:stretch/>
        </p:blipFill>
        <p:spPr>
          <a:xfrm>
            <a:off x="627840" y="1405080"/>
            <a:ext cx="407880" cy="407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" name="Text 2"/>
          <p:cNvSpPr/>
          <p:nvPr/>
        </p:nvSpPr>
        <p:spPr>
          <a:xfrm>
            <a:off x="1280160" y="1280160"/>
            <a:ext cx="4343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1a2733"/>
                </a:solidFill>
                <a:effectLst/>
                <a:uFillTx/>
                <a:latin typeface="Calibri"/>
                <a:ea typeface="Calibri"/>
              </a:rPr>
              <a:t>Problem &amp; Dataset Preprocessing</a:t>
            </a:r>
            <a:endParaRPr b="0" lang="en-SG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3"/>
          <p:cNvSpPr/>
          <p:nvPr/>
        </p:nvSpPr>
        <p:spPr>
          <a:xfrm>
            <a:off x="1280160" y="1618560"/>
            <a:ext cx="4343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5b6b76"/>
                </a:solidFill>
                <a:effectLst/>
                <a:uFillTx/>
                <a:latin typeface="Calibri"/>
                <a:ea typeface="Calibri"/>
              </a:rPr>
              <a:t>Prediction and Data Used</a:t>
            </a:r>
            <a:endParaRPr b="0" lang="en-SG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4"/>
          <p:cNvSpPr/>
          <p:nvPr/>
        </p:nvSpPr>
        <p:spPr>
          <a:xfrm>
            <a:off x="548640" y="2221920"/>
            <a:ext cx="566640" cy="56664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SG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0" name="Image 1" descr="preencoded.png"/>
          <p:cNvPicPr/>
          <p:nvPr/>
        </p:nvPicPr>
        <p:blipFill>
          <a:blip r:embed="rId2"/>
          <a:stretch/>
        </p:blipFill>
        <p:spPr>
          <a:xfrm>
            <a:off x="627840" y="2301480"/>
            <a:ext cx="407880" cy="407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" name="Text 5"/>
          <p:cNvSpPr/>
          <p:nvPr/>
        </p:nvSpPr>
        <p:spPr>
          <a:xfrm>
            <a:off x="1280160" y="2176200"/>
            <a:ext cx="4343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1a2733"/>
                </a:solidFill>
                <a:effectLst/>
                <a:uFillTx/>
                <a:latin typeface="Calibri"/>
                <a:ea typeface="Calibri"/>
              </a:rPr>
              <a:t>System Architecture</a:t>
            </a:r>
            <a:endParaRPr b="0" lang="en-SG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6"/>
          <p:cNvSpPr/>
          <p:nvPr/>
        </p:nvSpPr>
        <p:spPr>
          <a:xfrm>
            <a:off x="1280160" y="2514600"/>
            <a:ext cx="4343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5b6b76"/>
                </a:solidFill>
                <a:effectLst/>
                <a:uFillTx/>
                <a:latin typeface="Calibri"/>
                <a:ea typeface="Calibri"/>
              </a:rPr>
              <a:t>How the different processes fit together end to end</a:t>
            </a:r>
            <a:endParaRPr b="0" lang="en-SG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7"/>
          <p:cNvSpPr/>
          <p:nvPr/>
        </p:nvSpPr>
        <p:spPr>
          <a:xfrm>
            <a:off x="548640" y="3117960"/>
            <a:ext cx="566640" cy="56664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SG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4" name="Image 2" descr="preencoded.png"/>
          <p:cNvPicPr/>
          <p:nvPr/>
        </p:nvPicPr>
        <p:blipFill>
          <a:blip r:embed="rId3"/>
          <a:stretch/>
        </p:blipFill>
        <p:spPr>
          <a:xfrm>
            <a:off x="627840" y="3197520"/>
            <a:ext cx="407880" cy="407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" name="Text 8"/>
          <p:cNvSpPr/>
          <p:nvPr/>
        </p:nvSpPr>
        <p:spPr>
          <a:xfrm>
            <a:off x="1280160" y="3072240"/>
            <a:ext cx="4343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1a2733"/>
                </a:solidFill>
                <a:effectLst/>
                <a:uFillTx/>
                <a:latin typeface="Calibri"/>
                <a:ea typeface="Calibri"/>
              </a:rPr>
              <a:t>SageMaker Pipeline</a:t>
            </a:r>
            <a:endParaRPr b="0" lang="en-SG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9"/>
          <p:cNvSpPr/>
          <p:nvPr/>
        </p:nvSpPr>
        <p:spPr>
          <a:xfrm>
            <a:off x="1280160" y="3410640"/>
            <a:ext cx="4343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5b6b76"/>
                </a:solidFill>
                <a:effectLst/>
                <a:uFillTx/>
                <a:latin typeface="Calibri"/>
                <a:ea typeface="Calibri"/>
              </a:rPr>
              <a:t>Processing, training, evaluation, registration</a:t>
            </a:r>
            <a:endParaRPr b="0" lang="en-SG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10"/>
          <p:cNvSpPr/>
          <p:nvPr/>
        </p:nvSpPr>
        <p:spPr>
          <a:xfrm>
            <a:off x="548640" y="4014360"/>
            <a:ext cx="566640" cy="56664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SG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8" name="Image 3" descr="preencoded.png"/>
          <p:cNvPicPr/>
          <p:nvPr/>
        </p:nvPicPr>
        <p:blipFill>
          <a:blip r:embed="rId4"/>
          <a:stretch/>
        </p:blipFill>
        <p:spPr>
          <a:xfrm>
            <a:off x="627840" y="4093560"/>
            <a:ext cx="407880" cy="407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" name="Text 11"/>
          <p:cNvSpPr/>
          <p:nvPr/>
        </p:nvSpPr>
        <p:spPr>
          <a:xfrm>
            <a:off x="1280160" y="3968640"/>
            <a:ext cx="4343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1a2733"/>
                </a:solidFill>
                <a:effectLst/>
                <a:uFillTx/>
                <a:latin typeface="Calibri"/>
                <a:ea typeface="Calibri"/>
              </a:rPr>
              <a:t>Model &amp; Experiment Tracking</a:t>
            </a:r>
            <a:endParaRPr b="0" lang="en-SG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12"/>
          <p:cNvSpPr/>
          <p:nvPr/>
        </p:nvSpPr>
        <p:spPr>
          <a:xfrm>
            <a:off x="1280160" y="4306680"/>
            <a:ext cx="4343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5b6b76"/>
                </a:solidFill>
                <a:effectLst/>
                <a:uFillTx/>
                <a:latin typeface="Calibri"/>
                <a:ea typeface="Calibri"/>
              </a:rPr>
              <a:t>Algorithm selection and the MLflow App</a:t>
            </a:r>
            <a:endParaRPr b="0" lang="en-SG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13"/>
          <p:cNvSpPr/>
          <p:nvPr/>
        </p:nvSpPr>
        <p:spPr>
          <a:xfrm>
            <a:off x="6172200" y="1325880"/>
            <a:ext cx="566640" cy="56664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SG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2" name="Image 4" descr="preencoded.png"/>
          <p:cNvPicPr/>
          <p:nvPr/>
        </p:nvPicPr>
        <p:blipFill>
          <a:blip r:embed="rId5"/>
          <a:stretch/>
        </p:blipFill>
        <p:spPr>
          <a:xfrm>
            <a:off x="6251400" y="1405080"/>
            <a:ext cx="407880" cy="407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" name="Text 14"/>
          <p:cNvSpPr/>
          <p:nvPr/>
        </p:nvSpPr>
        <p:spPr>
          <a:xfrm>
            <a:off x="6903720" y="1280160"/>
            <a:ext cx="4343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1a2733"/>
                </a:solidFill>
                <a:effectLst/>
                <a:uFillTx/>
                <a:latin typeface="Calibri"/>
                <a:ea typeface="Calibri"/>
              </a:rPr>
              <a:t>Deployment</a:t>
            </a:r>
            <a:endParaRPr b="0" lang="en-SG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15"/>
          <p:cNvSpPr/>
          <p:nvPr/>
        </p:nvSpPr>
        <p:spPr>
          <a:xfrm>
            <a:off x="6903720" y="1618560"/>
            <a:ext cx="4343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5b6b76"/>
                </a:solidFill>
                <a:effectLst/>
                <a:uFillTx/>
                <a:latin typeface="Calibri"/>
                <a:ea typeface="Calibri"/>
              </a:rPr>
              <a:t>The real-time inference endpoint</a:t>
            </a:r>
            <a:endParaRPr b="0" lang="en-SG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Shape 16"/>
          <p:cNvSpPr/>
          <p:nvPr/>
        </p:nvSpPr>
        <p:spPr>
          <a:xfrm>
            <a:off x="6172200" y="2221920"/>
            <a:ext cx="566640" cy="56664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SG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6" name="Image 5" descr="preencoded.png"/>
          <p:cNvPicPr/>
          <p:nvPr/>
        </p:nvPicPr>
        <p:blipFill>
          <a:blip r:embed="rId6"/>
          <a:stretch/>
        </p:blipFill>
        <p:spPr>
          <a:xfrm>
            <a:off x="6251400" y="2301480"/>
            <a:ext cx="407880" cy="407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" name="Text 17"/>
          <p:cNvSpPr/>
          <p:nvPr/>
        </p:nvSpPr>
        <p:spPr>
          <a:xfrm>
            <a:off x="6903720" y="2176200"/>
            <a:ext cx="4343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1a2733"/>
                </a:solidFill>
                <a:effectLst/>
                <a:uFillTx/>
                <a:latin typeface="Calibri"/>
                <a:ea typeface="Calibri"/>
              </a:rPr>
              <a:t>Web Application &amp; Live Demo</a:t>
            </a:r>
            <a:endParaRPr b="0" lang="en-SG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18"/>
          <p:cNvSpPr/>
          <p:nvPr/>
        </p:nvSpPr>
        <p:spPr>
          <a:xfrm>
            <a:off x="6903720" y="2514600"/>
            <a:ext cx="4343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5b6b76"/>
                </a:solidFill>
                <a:effectLst/>
                <a:uFillTx/>
                <a:latin typeface="Calibri"/>
                <a:ea typeface="Calibri"/>
              </a:rPr>
              <a:t>The Streamlit rent web application &amp; Ngrok provide external excess</a:t>
            </a:r>
            <a:endParaRPr b="0" lang="en-SG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20"/>
          <p:cNvSpPr/>
          <p:nvPr/>
        </p:nvSpPr>
        <p:spPr>
          <a:xfrm>
            <a:off x="6903720" y="3072240"/>
            <a:ext cx="4343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SG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21"/>
          <p:cNvSpPr/>
          <p:nvPr/>
        </p:nvSpPr>
        <p:spPr>
          <a:xfrm>
            <a:off x="7544160" y="3437640"/>
            <a:ext cx="4343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SG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22"/>
          <p:cNvSpPr/>
          <p:nvPr/>
        </p:nvSpPr>
        <p:spPr>
          <a:xfrm>
            <a:off x="457200" y="653796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5b6b76"/>
                </a:solidFill>
                <a:effectLst/>
                <a:uFillTx/>
                <a:latin typeface="Calibri"/>
                <a:ea typeface="Calibri"/>
              </a:rPr>
              <a:t>My Rent &amp; Investment Estimator  |  ITI113 Team 08</a:t>
            </a:r>
            <a:endParaRPr b="0" lang="en-SG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23"/>
          <p:cNvSpPr/>
          <p:nvPr/>
        </p:nvSpPr>
        <p:spPr>
          <a:xfrm>
            <a:off x="11521440" y="653796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5b6b76"/>
                </a:solidFill>
                <a:effectLst/>
                <a:uFillTx/>
                <a:latin typeface="Calibri"/>
                <a:ea typeface="Calibri"/>
              </a:rPr>
              <a:t>2</a:t>
            </a:r>
            <a:endParaRPr b="0" lang="en-SG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 0"/>
          <p:cNvSpPr/>
          <p:nvPr/>
        </p:nvSpPr>
        <p:spPr>
          <a:xfrm>
            <a:off x="548640" y="411480"/>
            <a:ext cx="91436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1a2733"/>
                </a:solidFill>
                <a:effectLst/>
                <a:uFillTx/>
                <a:latin typeface="Cambria"/>
                <a:ea typeface="Cambria"/>
              </a:rPr>
              <a:t>Objective &amp; Dataset at a Glance</a:t>
            </a:r>
            <a:endParaRPr b="0" lang="en-SG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Shape 1"/>
          <p:cNvSpPr/>
          <p:nvPr/>
        </p:nvSpPr>
        <p:spPr>
          <a:xfrm>
            <a:off x="548640" y="1371600"/>
            <a:ext cx="594000" cy="59400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SG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5" name="Image 0" descr="preencoded.png"/>
          <p:cNvPicPr/>
          <p:nvPr/>
        </p:nvPicPr>
        <p:blipFill>
          <a:blip r:embed="rId1"/>
          <a:stretch/>
        </p:blipFill>
        <p:spPr>
          <a:xfrm>
            <a:off x="631800" y="1454760"/>
            <a:ext cx="427680" cy="427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" name="Text 2"/>
          <p:cNvSpPr/>
          <p:nvPr/>
        </p:nvSpPr>
        <p:spPr>
          <a:xfrm>
            <a:off x="1280160" y="1353240"/>
            <a:ext cx="4571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1a2733"/>
                </a:solidFill>
                <a:effectLst/>
                <a:uFillTx/>
                <a:latin typeface="Calibri"/>
                <a:ea typeface="Calibri"/>
              </a:rPr>
              <a:t>Objective</a:t>
            </a:r>
            <a:endParaRPr b="0" lang="en-SG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3"/>
          <p:cNvSpPr/>
          <p:nvPr/>
        </p:nvSpPr>
        <p:spPr>
          <a:xfrm>
            <a:off x="548640" y="1965960"/>
            <a:ext cx="557748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1a2733"/>
                </a:solidFill>
                <a:effectLst/>
                <a:uFillTx/>
                <a:latin typeface="Calibri"/>
                <a:ea typeface="Calibri"/>
              </a:rPr>
              <a:t>Predict monthly rental price for non-landed private residential units in Singapore, and translate that into an indicative investment value — to support rental and investment decisions across all 27 valid postal districts.</a:t>
            </a:r>
            <a:endParaRPr b="0" lang="en-SG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Shape 4"/>
          <p:cNvSpPr/>
          <p:nvPr/>
        </p:nvSpPr>
        <p:spPr>
          <a:xfrm>
            <a:off x="548640" y="3886200"/>
            <a:ext cx="5577480" cy="1416960"/>
          </a:xfrm>
          <a:prstGeom prst="roundRect">
            <a:avLst>
              <a:gd name="adj" fmla="val 5161"/>
            </a:avLst>
          </a:prstGeom>
          <a:solidFill>
            <a:srgbClr val="f2f7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SG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5"/>
          <p:cNvSpPr/>
          <p:nvPr/>
        </p:nvSpPr>
        <p:spPr>
          <a:xfrm>
            <a:off x="777240" y="4041720"/>
            <a:ext cx="5120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Source Data</a:t>
            </a:r>
            <a:endParaRPr b="0" lang="en-SG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6"/>
          <p:cNvSpPr/>
          <p:nvPr/>
        </p:nvSpPr>
        <p:spPr>
          <a:xfrm>
            <a:off x="777240" y="4370760"/>
            <a:ext cx="512028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1a2733"/>
                </a:solidFill>
                <a:effectLst/>
                <a:uFillTx/>
                <a:latin typeface="Calibri"/>
                <a:ea typeface="Calibri"/>
              </a:rPr>
              <a:t>Historical private-residential rental transactions across Singapore, 2021–2025. Feature engineering distilled this into 31 model inputs: 4 numeric fields plus 27 one-hot encoded districts (district 24 is not a valid postal district and is excluded).</a:t>
            </a:r>
            <a:endParaRPr b="0" lang="en-SG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Shape 7"/>
          <p:cNvSpPr/>
          <p:nvPr/>
        </p:nvSpPr>
        <p:spPr>
          <a:xfrm>
            <a:off x="6492240" y="1371600"/>
            <a:ext cx="2468520" cy="1416960"/>
          </a:xfrm>
          <a:prstGeom prst="roundRect">
            <a:avLst>
              <a:gd name="adj" fmla="val 5161"/>
            </a:avLst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SG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8"/>
          <p:cNvSpPr/>
          <p:nvPr/>
        </p:nvSpPr>
        <p:spPr>
          <a:xfrm>
            <a:off x="6492240" y="1572840"/>
            <a:ext cx="24685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~367,000</a:t>
            </a:r>
            <a:endParaRPr b="0" lang="en-SG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9"/>
          <p:cNvSpPr/>
          <p:nvPr/>
        </p:nvSpPr>
        <p:spPr>
          <a:xfrm>
            <a:off x="6492240" y="2240280"/>
            <a:ext cx="2468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cfe3ef"/>
                </a:solidFill>
                <a:effectLst/>
                <a:uFillTx/>
                <a:latin typeface="Calibri"/>
                <a:ea typeface="Calibri"/>
              </a:rPr>
              <a:t>Rental Transactions</a:t>
            </a:r>
            <a:endParaRPr b="0" lang="en-SG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Shape 10"/>
          <p:cNvSpPr/>
          <p:nvPr/>
        </p:nvSpPr>
        <p:spPr>
          <a:xfrm>
            <a:off x="9144000" y="1371600"/>
            <a:ext cx="2468520" cy="1416960"/>
          </a:xfrm>
          <a:prstGeom prst="roundRect">
            <a:avLst>
              <a:gd name="adj" fmla="val 5161"/>
            </a:avLst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SG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11"/>
          <p:cNvSpPr/>
          <p:nvPr/>
        </p:nvSpPr>
        <p:spPr>
          <a:xfrm>
            <a:off x="9144000" y="1572840"/>
            <a:ext cx="24685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27</a:t>
            </a:r>
            <a:endParaRPr b="0" lang="en-SG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12"/>
          <p:cNvSpPr/>
          <p:nvPr/>
        </p:nvSpPr>
        <p:spPr>
          <a:xfrm>
            <a:off x="9144000" y="2240280"/>
            <a:ext cx="2468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cfe3ef"/>
                </a:solidFill>
                <a:effectLst/>
                <a:uFillTx/>
                <a:latin typeface="Calibri"/>
                <a:ea typeface="Calibri"/>
              </a:rPr>
              <a:t>Valid Postal Districts</a:t>
            </a:r>
            <a:endParaRPr b="0" lang="en-SG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Shape 13"/>
          <p:cNvSpPr/>
          <p:nvPr/>
        </p:nvSpPr>
        <p:spPr>
          <a:xfrm>
            <a:off x="6492240" y="2971800"/>
            <a:ext cx="2468520" cy="1416960"/>
          </a:xfrm>
          <a:prstGeom prst="roundRect">
            <a:avLst>
              <a:gd name="adj" fmla="val 5161"/>
            </a:avLst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SG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14"/>
          <p:cNvSpPr/>
          <p:nvPr/>
        </p:nvSpPr>
        <p:spPr>
          <a:xfrm>
            <a:off x="6492240" y="3173040"/>
            <a:ext cx="24685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2021–2025</a:t>
            </a:r>
            <a:endParaRPr b="0" lang="en-SG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15"/>
          <p:cNvSpPr/>
          <p:nvPr/>
        </p:nvSpPr>
        <p:spPr>
          <a:xfrm>
            <a:off x="6492240" y="3840480"/>
            <a:ext cx="2468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cfe3ef"/>
                </a:solidFill>
                <a:effectLst/>
                <a:uFillTx/>
                <a:latin typeface="Calibri"/>
                <a:ea typeface="Calibri"/>
              </a:rPr>
              <a:t>Transaction Period</a:t>
            </a:r>
            <a:endParaRPr b="0" lang="en-SG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Shape 16"/>
          <p:cNvSpPr/>
          <p:nvPr/>
        </p:nvSpPr>
        <p:spPr>
          <a:xfrm>
            <a:off x="9144000" y="2971800"/>
            <a:ext cx="2468520" cy="1416960"/>
          </a:xfrm>
          <a:prstGeom prst="roundRect">
            <a:avLst>
              <a:gd name="adj" fmla="val 5161"/>
            </a:avLst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SG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17"/>
          <p:cNvSpPr/>
          <p:nvPr/>
        </p:nvSpPr>
        <p:spPr>
          <a:xfrm>
            <a:off x="9144000" y="3173040"/>
            <a:ext cx="24685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31</a:t>
            </a:r>
            <a:endParaRPr b="0" lang="en-SG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18"/>
          <p:cNvSpPr/>
          <p:nvPr/>
        </p:nvSpPr>
        <p:spPr>
          <a:xfrm>
            <a:off x="9144000" y="3840480"/>
            <a:ext cx="2468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cfe3ef"/>
                </a:solidFill>
                <a:effectLst/>
                <a:uFillTx/>
                <a:latin typeface="Calibri"/>
                <a:ea typeface="Calibri"/>
              </a:rPr>
              <a:t>Model Input Features</a:t>
            </a:r>
            <a:endParaRPr b="0" lang="en-SG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19"/>
          <p:cNvSpPr/>
          <p:nvPr/>
        </p:nvSpPr>
        <p:spPr>
          <a:xfrm>
            <a:off x="457200" y="653796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5b6b76"/>
                </a:solidFill>
                <a:effectLst/>
                <a:uFillTx/>
                <a:latin typeface="Calibri"/>
                <a:ea typeface="Calibri"/>
              </a:rPr>
              <a:t>My Rent &amp; Investment Estimator  |  ITI113 Team 08</a:t>
            </a:r>
            <a:endParaRPr b="0" lang="en-SG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20"/>
          <p:cNvSpPr/>
          <p:nvPr/>
        </p:nvSpPr>
        <p:spPr>
          <a:xfrm>
            <a:off x="11521440" y="653796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5b6b76"/>
                </a:solidFill>
                <a:effectLst/>
                <a:uFillTx/>
                <a:latin typeface="Calibri"/>
                <a:ea typeface="Calibri"/>
              </a:rPr>
              <a:t>3</a:t>
            </a:r>
            <a:endParaRPr b="0" lang="en-SG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ext 0"/>
          <p:cNvSpPr/>
          <p:nvPr/>
        </p:nvSpPr>
        <p:spPr>
          <a:xfrm>
            <a:off x="548640" y="365760"/>
            <a:ext cx="91436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1a2733"/>
                </a:solidFill>
                <a:effectLst/>
                <a:uFillTx/>
                <a:latin typeface="Cambria"/>
                <a:ea typeface="Cambria"/>
              </a:rPr>
              <a:t>System Architecture</a:t>
            </a:r>
            <a:endParaRPr b="0" lang="en-SG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1"/>
          <p:cNvSpPr/>
          <p:nvPr/>
        </p:nvSpPr>
        <p:spPr>
          <a:xfrm>
            <a:off x="548640" y="914400"/>
            <a:ext cx="9143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trike="noStrike" u="none">
                <a:solidFill>
                  <a:srgbClr val="5b6b76"/>
                </a:solidFill>
                <a:effectLst/>
                <a:uFillTx/>
                <a:latin typeface="Calibri"/>
                <a:ea typeface="Calibri"/>
              </a:rPr>
              <a:t>From raw data to a publicly accessible prediction app</a:t>
            </a:r>
            <a:endParaRPr b="0" lang="en-SG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Shape 2"/>
          <p:cNvSpPr/>
          <p:nvPr/>
        </p:nvSpPr>
        <p:spPr>
          <a:xfrm>
            <a:off x="675000" y="2148840"/>
            <a:ext cx="1965600" cy="1737000"/>
          </a:xfrm>
          <a:prstGeom prst="roundRect">
            <a:avLst>
              <a:gd name="adj" fmla="val 5263"/>
            </a:avLst>
          </a:prstGeom>
          <a:solidFill>
            <a:srgbClr val="f2f7fa"/>
          </a:solidFill>
          <a:ln w="12700">
            <a:solidFill>
              <a:srgbClr val="d7e4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SG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Shape 3"/>
          <p:cNvSpPr/>
          <p:nvPr/>
        </p:nvSpPr>
        <p:spPr>
          <a:xfrm>
            <a:off x="1337760" y="2404800"/>
            <a:ext cx="639720" cy="63972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SG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9" name="Image 0" descr="preencoded.png"/>
          <p:cNvPicPr/>
          <p:nvPr/>
        </p:nvPicPr>
        <p:blipFill>
          <a:blip r:embed="rId1"/>
          <a:stretch/>
        </p:blipFill>
        <p:spPr>
          <a:xfrm>
            <a:off x="1427400" y="2494440"/>
            <a:ext cx="46044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0" name="Text 4"/>
          <p:cNvSpPr/>
          <p:nvPr/>
        </p:nvSpPr>
        <p:spPr>
          <a:xfrm>
            <a:off x="748080" y="3173040"/>
            <a:ext cx="18194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1a2733"/>
                </a:solidFill>
                <a:effectLst/>
                <a:uFillTx/>
                <a:latin typeface="Calibri"/>
                <a:ea typeface="Calibri"/>
              </a:rPr>
              <a:t>Rental Data</a:t>
            </a:r>
            <a:endParaRPr b="0" lang="en-SG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5"/>
          <p:cNvSpPr/>
          <p:nvPr/>
        </p:nvSpPr>
        <p:spPr>
          <a:xfrm>
            <a:off x="748080" y="3520440"/>
            <a:ext cx="1819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5b6b76"/>
                </a:solidFill>
                <a:effectLst/>
                <a:uFillTx/>
                <a:latin typeface="Calibri"/>
                <a:ea typeface="Calibri"/>
              </a:rPr>
              <a:t>S3 / CSV</a:t>
            </a:r>
            <a:endParaRPr b="0" lang="en-SG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6"/>
          <p:cNvSpPr/>
          <p:nvPr/>
        </p:nvSpPr>
        <p:spPr>
          <a:xfrm>
            <a:off x="2511000" y="2697480"/>
            <a:ext cx="5115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→</a:t>
            </a:r>
            <a:endParaRPr b="0" lang="en-SG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Shape 7"/>
          <p:cNvSpPr/>
          <p:nvPr/>
        </p:nvSpPr>
        <p:spPr>
          <a:xfrm>
            <a:off x="2893320" y="2148840"/>
            <a:ext cx="1965600" cy="1737000"/>
          </a:xfrm>
          <a:prstGeom prst="roundRect">
            <a:avLst>
              <a:gd name="adj" fmla="val 5263"/>
            </a:avLst>
          </a:prstGeom>
          <a:solidFill>
            <a:srgbClr val="f2f7fa"/>
          </a:solidFill>
          <a:ln w="12700">
            <a:solidFill>
              <a:srgbClr val="d7e4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SG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Shape 8"/>
          <p:cNvSpPr/>
          <p:nvPr/>
        </p:nvSpPr>
        <p:spPr>
          <a:xfrm>
            <a:off x="3556080" y="2404800"/>
            <a:ext cx="639720" cy="63972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SG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5" name="Image 1" descr="preencoded.png"/>
          <p:cNvPicPr/>
          <p:nvPr/>
        </p:nvPicPr>
        <p:blipFill>
          <a:blip r:embed="rId2"/>
          <a:stretch/>
        </p:blipFill>
        <p:spPr>
          <a:xfrm>
            <a:off x="3645720" y="2494440"/>
            <a:ext cx="46044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6" name="Text 9"/>
          <p:cNvSpPr/>
          <p:nvPr/>
        </p:nvSpPr>
        <p:spPr>
          <a:xfrm>
            <a:off x="2966400" y="3173040"/>
            <a:ext cx="18194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1a2733"/>
                </a:solidFill>
                <a:effectLst/>
                <a:uFillTx/>
                <a:latin typeface="Calibri"/>
                <a:ea typeface="Calibri"/>
              </a:rPr>
              <a:t>SageMaker Pipeline</a:t>
            </a:r>
            <a:endParaRPr b="0" lang="en-SG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10"/>
          <p:cNvSpPr/>
          <p:nvPr/>
        </p:nvSpPr>
        <p:spPr>
          <a:xfrm>
            <a:off x="2966400" y="3520440"/>
            <a:ext cx="1819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5b6b76"/>
                </a:solidFill>
                <a:effectLst/>
                <a:uFillTx/>
                <a:latin typeface="Calibri"/>
                <a:ea typeface="Calibri"/>
              </a:rPr>
              <a:t>Process → Train → Evaluate → Register</a:t>
            </a:r>
            <a:endParaRPr b="0" lang="en-SG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11"/>
          <p:cNvSpPr/>
          <p:nvPr/>
        </p:nvSpPr>
        <p:spPr>
          <a:xfrm>
            <a:off x="4729320" y="2697480"/>
            <a:ext cx="5115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→</a:t>
            </a:r>
            <a:endParaRPr b="0" lang="en-SG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Shape 12"/>
          <p:cNvSpPr/>
          <p:nvPr/>
        </p:nvSpPr>
        <p:spPr>
          <a:xfrm>
            <a:off x="5111640" y="2148840"/>
            <a:ext cx="1965600" cy="1737000"/>
          </a:xfrm>
          <a:prstGeom prst="roundRect">
            <a:avLst>
              <a:gd name="adj" fmla="val 5263"/>
            </a:avLst>
          </a:prstGeom>
          <a:solidFill>
            <a:srgbClr val="f2f7fa"/>
          </a:solidFill>
          <a:ln w="12700">
            <a:solidFill>
              <a:srgbClr val="d7e4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SG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Shape 13"/>
          <p:cNvSpPr/>
          <p:nvPr/>
        </p:nvSpPr>
        <p:spPr>
          <a:xfrm>
            <a:off x="5774400" y="2404800"/>
            <a:ext cx="639720" cy="63972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SG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1" name="Image 2" descr="preencoded.png"/>
          <p:cNvPicPr/>
          <p:nvPr/>
        </p:nvPicPr>
        <p:blipFill>
          <a:blip r:embed="rId3"/>
          <a:stretch/>
        </p:blipFill>
        <p:spPr>
          <a:xfrm>
            <a:off x="5864040" y="2494440"/>
            <a:ext cx="46044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2" name="Text 14"/>
          <p:cNvSpPr/>
          <p:nvPr/>
        </p:nvSpPr>
        <p:spPr>
          <a:xfrm>
            <a:off x="5184720" y="3173040"/>
            <a:ext cx="18194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1a2733"/>
                </a:solidFill>
                <a:effectLst/>
                <a:uFillTx/>
                <a:latin typeface="Calibri"/>
                <a:ea typeface="Calibri"/>
              </a:rPr>
              <a:t>Real-Time Endpoint</a:t>
            </a:r>
            <a:endParaRPr b="0" lang="en-SG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15"/>
          <p:cNvSpPr/>
          <p:nvPr/>
        </p:nvSpPr>
        <p:spPr>
          <a:xfrm>
            <a:off x="5184720" y="3520440"/>
            <a:ext cx="1819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5b6b76"/>
                </a:solidFill>
                <a:effectLst/>
                <a:uFillTx/>
                <a:latin typeface="Calibri"/>
                <a:ea typeface="Calibri"/>
              </a:rPr>
              <a:t>XGBoost model</a:t>
            </a:r>
            <a:endParaRPr b="0" lang="en-SG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16"/>
          <p:cNvSpPr/>
          <p:nvPr/>
        </p:nvSpPr>
        <p:spPr>
          <a:xfrm>
            <a:off x="6947640" y="2697480"/>
            <a:ext cx="5115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→</a:t>
            </a:r>
            <a:endParaRPr b="0" lang="en-SG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Shape 17"/>
          <p:cNvSpPr/>
          <p:nvPr/>
        </p:nvSpPr>
        <p:spPr>
          <a:xfrm>
            <a:off x="7329960" y="2148840"/>
            <a:ext cx="1965600" cy="1737000"/>
          </a:xfrm>
          <a:prstGeom prst="roundRect">
            <a:avLst>
              <a:gd name="adj" fmla="val 5263"/>
            </a:avLst>
          </a:prstGeom>
          <a:solidFill>
            <a:srgbClr val="f2f7fa"/>
          </a:solidFill>
          <a:ln w="12700">
            <a:solidFill>
              <a:srgbClr val="d7e4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SG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Shape 18"/>
          <p:cNvSpPr/>
          <p:nvPr/>
        </p:nvSpPr>
        <p:spPr>
          <a:xfrm>
            <a:off x="7992720" y="2404800"/>
            <a:ext cx="639720" cy="63972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SG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7" name="Image 3" descr="preencoded.png"/>
          <p:cNvPicPr/>
          <p:nvPr/>
        </p:nvPicPr>
        <p:blipFill>
          <a:blip r:embed="rId4"/>
          <a:stretch/>
        </p:blipFill>
        <p:spPr>
          <a:xfrm>
            <a:off x="8082360" y="2494440"/>
            <a:ext cx="46044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8" name="Text 19"/>
          <p:cNvSpPr/>
          <p:nvPr/>
        </p:nvSpPr>
        <p:spPr>
          <a:xfrm>
            <a:off x="7403040" y="3173040"/>
            <a:ext cx="18194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1a2733"/>
                </a:solidFill>
                <a:effectLst/>
                <a:uFillTx/>
                <a:latin typeface="Calibri"/>
                <a:ea typeface="Calibri"/>
              </a:rPr>
              <a:t>Streamlit App</a:t>
            </a:r>
            <a:endParaRPr b="0" lang="en-SG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20"/>
          <p:cNvSpPr/>
          <p:nvPr/>
        </p:nvSpPr>
        <p:spPr>
          <a:xfrm>
            <a:off x="7403040" y="3520440"/>
            <a:ext cx="1819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5b6b76"/>
                </a:solidFill>
                <a:effectLst/>
                <a:uFillTx/>
                <a:latin typeface="Calibri"/>
                <a:ea typeface="Calibri"/>
              </a:rPr>
              <a:t>Rent &amp; investment estimator</a:t>
            </a:r>
            <a:endParaRPr b="0" lang="en-SG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21"/>
          <p:cNvSpPr/>
          <p:nvPr/>
        </p:nvSpPr>
        <p:spPr>
          <a:xfrm>
            <a:off x="9165960" y="2697480"/>
            <a:ext cx="5115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→</a:t>
            </a:r>
            <a:endParaRPr b="0" lang="en-SG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22"/>
          <p:cNvSpPr/>
          <p:nvPr/>
        </p:nvSpPr>
        <p:spPr>
          <a:xfrm>
            <a:off x="9548280" y="2148840"/>
            <a:ext cx="1965600" cy="1737000"/>
          </a:xfrm>
          <a:prstGeom prst="roundRect">
            <a:avLst>
              <a:gd name="adj" fmla="val 5263"/>
            </a:avLst>
          </a:prstGeom>
          <a:solidFill>
            <a:srgbClr val="f2f7fa"/>
          </a:solidFill>
          <a:ln w="12700">
            <a:solidFill>
              <a:srgbClr val="d7e4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SG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Shape 23"/>
          <p:cNvSpPr/>
          <p:nvPr/>
        </p:nvSpPr>
        <p:spPr>
          <a:xfrm>
            <a:off x="10211040" y="2404800"/>
            <a:ext cx="639720" cy="63972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SG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3" name="Image 4" descr="preencoded.png"/>
          <p:cNvPicPr/>
          <p:nvPr/>
        </p:nvPicPr>
        <p:blipFill>
          <a:blip r:embed="rId5"/>
          <a:stretch/>
        </p:blipFill>
        <p:spPr>
          <a:xfrm>
            <a:off x="10300680" y="2494440"/>
            <a:ext cx="46044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4" name="Text 24"/>
          <p:cNvSpPr/>
          <p:nvPr/>
        </p:nvSpPr>
        <p:spPr>
          <a:xfrm>
            <a:off x="9621360" y="3173040"/>
            <a:ext cx="18194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1a2733"/>
                </a:solidFill>
                <a:effectLst/>
                <a:uFillTx/>
                <a:latin typeface="Calibri"/>
                <a:ea typeface="Calibri"/>
              </a:rPr>
              <a:t>Public URL</a:t>
            </a:r>
            <a:endParaRPr b="0" lang="en-SG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25"/>
          <p:cNvSpPr/>
          <p:nvPr/>
        </p:nvSpPr>
        <p:spPr>
          <a:xfrm>
            <a:off x="9621360" y="3520440"/>
            <a:ext cx="1819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5b6b76"/>
                </a:solidFill>
                <a:effectLst/>
                <a:uFillTx/>
                <a:latin typeface="Calibri"/>
                <a:ea typeface="Calibri"/>
              </a:rPr>
              <a:t>via ngrok tunnel</a:t>
            </a:r>
            <a:endParaRPr b="0" lang="en-SG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Shape 26"/>
          <p:cNvSpPr/>
          <p:nvPr/>
        </p:nvSpPr>
        <p:spPr>
          <a:xfrm>
            <a:off x="2756160" y="4206240"/>
            <a:ext cx="2239920" cy="502560"/>
          </a:xfrm>
          <a:prstGeom prst="roundRect">
            <a:avLst>
              <a:gd name="adj" fmla="val 14545"/>
            </a:avLst>
          </a:prstGeom>
          <a:solidFill>
            <a:srgbClr val="2129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SG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27"/>
          <p:cNvSpPr/>
          <p:nvPr/>
        </p:nvSpPr>
        <p:spPr>
          <a:xfrm>
            <a:off x="2756160" y="4206240"/>
            <a:ext cx="22399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Tracked in MLflow App</a:t>
            </a:r>
            <a:endParaRPr b="0" lang="en-SG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28"/>
          <p:cNvSpPr/>
          <p:nvPr/>
        </p:nvSpPr>
        <p:spPr>
          <a:xfrm>
            <a:off x="457200" y="653796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5b6b76"/>
                </a:solidFill>
                <a:effectLst/>
                <a:uFillTx/>
                <a:latin typeface="Calibri"/>
                <a:ea typeface="Calibri"/>
              </a:rPr>
              <a:t>My Rent &amp; Investment Estimator  |  ITI113 Team 08</a:t>
            </a:r>
            <a:endParaRPr b="0" lang="en-SG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29"/>
          <p:cNvSpPr/>
          <p:nvPr/>
        </p:nvSpPr>
        <p:spPr>
          <a:xfrm>
            <a:off x="11521440" y="653796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5b6b76"/>
                </a:solidFill>
                <a:effectLst/>
                <a:uFillTx/>
                <a:latin typeface="Calibri"/>
                <a:ea typeface="Calibri"/>
              </a:rPr>
              <a:t>4</a:t>
            </a:r>
            <a:endParaRPr b="0" lang="en-SG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ext 0"/>
          <p:cNvSpPr/>
          <p:nvPr/>
        </p:nvSpPr>
        <p:spPr>
          <a:xfrm>
            <a:off x="548640" y="411480"/>
            <a:ext cx="91436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1a2733"/>
                </a:solidFill>
                <a:effectLst/>
                <a:uFillTx/>
                <a:latin typeface="Cambria"/>
                <a:ea typeface="Cambria"/>
              </a:rPr>
              <a:t>SageMaker Pipeline: 4 Steps</a:t>
            </a:r>
            <a:endParaRPr b="0" lang="en-SG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Shape 1"/>
          <p:cNvSpPr/>
          <p:nvPr/>
        </p:nvSpPr>
        <p:spPr>
          <a:xfrm>
            <a:off x="498240" y="1600200"/>
            <a:ext cx="2605680" cy="3565800"/>
          </a:xfrm>
          <a:prstGeom prst="roundRect">
            <a:avLst>
              <a:gd name="adj" fmla="val 3509"/>
            </a:avLst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SG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Shape 2"/>
          <p:cNvSpPr/>
          <p:nvPr/>
        </p:nvSpPr>
        <p:spPr>
          <a:xfrm>
            <a:off x="1435680" y="1920240"/>
            <a:ext cx="731160" cy="73116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SG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3" name="Image 0" descr="preencoded.png"/>
          <p:cNvPicPr/>
          <p:nvPr/>
        </p:nvPicPr>
        <p:blipFill>
          <a:blip r:embed="rId1"/>
          <a:stretch/>
        </p:blipFill>
        <p:spPr>
          <a:xfrm>
            <a:off x="1537920" y="2022480"/>
            <a:ext cx="526320" cy="526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4" name="Text 3"/>
          <p:cNvSpPr/>
          <p:nvPr/>
        </p:nvSpPr>
        <p:spPr>
          <a:xfrm>
            <a:off x="635400" y="2834640"/>
            <a:ext cx="2331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1. Process</a:t>
            </a:r>
            <a:endParaRPr b="0" lang="en-SG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4"/>
          <p:cNvSpPr/>
          <p:nvPr/>
        </p:nvSpPr>
        <p:spPr>
          <a:xfrm>
            <a:off x="699480" y="3383280"/>
            <a:ext cx="220320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eaf2f7"/>
                </a:solidFill>
                <a:effectLst/>
                <a:uFillTx/>
                <a:latin typeface="Calibri"/>
                <a:ea typeface="Calibri"/>
              </a:rPr>
              <a:t>Clean raw transactions and build the 31 model features, including one-hot district encoding.</a:t>
            </a:r>
            <a:endParaRPr b="0" lang="en-SG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5"/>
          <p:cNvSpPr/>
          <p:nvPr/>
        </p:nvSpPr>
        <p:spPr>
          <a:xfrm>
            <a:off x="3031200" y="3108960"/>
            <a:ext cx="4021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5b6b76"/>
                </a:solidFill>
                <a:effectLst/>
                <a:uFillTx/>
                <a:latin typeface="Calibri"/>
                <a:ea typeface="Calibri"/>
              </a:rPr>
              <a:t>→</a:t>
            </a:r>
            <a:endParaRPr b="0" lang="en-SG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Shape 6"/>
          <p:cNvSpPr/>
          <p:nvPr/>
        </p:nvSpPr>
        <p:spPr>
          <a:xfrm>
            <a:off x="3360600" y="1600200"/>
            <a:ext cx="2605680" cy="3565800"/>
          </a:xfrm>
          <a:prstGeom prst="roundRect">
            <a:avLst>
              <a:gd name="adj" fmla="val 3509"/>
            </a:avLst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SG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Shape 7"/>
          <p:cNvSpPr/>
          <p:nvPr/>
        </p:nvSpPr>
        <p:spPr>
          <a:xfrm>
            <a:off x="4297680" y="1920240"/>
            <a:ext cx="731160" cy="73116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SG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9" name="Image 1" descr="preencoded.png"/>
          <p:cNvPicPr/>
          <p:nvPr/>
        </p:nvPicPr>
        <p:blipFill>
          <a:blip r:embed="rId2"/>
          <a:stretch/>
        </p:blipFill>
        <p:spPr>
          <a:xfrm>
            <a:off x="4399920" y="2022480"/>
            <a:ext cx="526320" cy="526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0" name="Text 8"/>
          <p:cNvSpPr/>
          <p:nvPr/>
        </p:nvSpPr>
        <p:spPr>
          <a:xfrm>
            <a:off x="3497760" y="2834640"/>
            <a:ext cx="2331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2. Train</a:t>
            </a:r>
            <a:endParaRPr b="0" lang="en-SG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9"/>
          <p:cNvSpPr/>
          <p:nvPr/>
        </p:nvSpPr>
        <p:spPr>
          <a:xfrm>
            <a:off x="3561480" y="3383280"/>
            <a:ext cx="220320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eaf2f7"/>
                </a:solidFill>
                <a:effectLst/>
                <a:uFillTx/>
                <a:latin typeface="Calibri"/>
                <a:ea typeface="Calibri"/>
              </a:rPr>
              <a:t>Fit an XGBoost regressor via a SageMaker Training Job; log parameters &amp; metrics to the MLflow App.</a:t>
            </a:r>
            <a:endParaRPr b="0" lang="en-SG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10"/>
          <p:cNvSpPr/>
          <p:nvPr/>
        </p:nvSpPr>
        <p:spPr>
          <a:xfrm>
            <a:off x="5893200" y="3108960"/>
            <a:ext cx="4021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5b6b76"/>
                </a:solidFill>
                <a:effectLst/>
                <a:uFillTx/>
                <a:latin typeface="Calibri"/>
                <a:ea typeface="Calibri"/>
              </a:rPr>
              <a:t>→</a:t>
            </a:r>
            <a:endParaRPr b="0" lang="en-SG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Shape 11"/>
          <p:cNvSpPr/>
          <p:nvPr/>
        </p:nvSpPr>
        <p:spPr>
          <a:xfrm>
            <a:off x="6222600" y="1600200"/>
            <a:ext cx="2605680" cy="3565800"/>
          </a:xfrm>
          <a:prstGeom prst="roundRect">
            <a:avLst>
              <a:gd name="adj" fmla="val 3509"/>
            </a:avLst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SG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Shape 12"/>
          <p:cNvSpPr/>
          <p:nvPr/>
        </p:nvSpPr>
        <p:spPr>
          <a:xfrm>
            <a:off x="7159680" y="1920240"/>
            <a:ext cx="731160" cy="73116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SG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5" name="Image 2" descr="preencoded.png"/>
          <p:cNvPicPr/>
          <p:nvPr/>
        </p:nvPicPr>
        <p:blipFill>
          <a:blip r:embed="rId3"/>
          <a:stretch/>
        </p:blipFill>
        <p:spPr>
          <a:xfrm>
            <a:off x="7262280" y="2022480"/>
            <a:ext cx="526320" cy="526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6" name="Text 13"/>
          <p:cNvSpPr/>
          <p:nvPr/>
        </p:nvSpPr>
        <p:spPr>
          <a:xfrm>
            <a:off x="6359760" y="2834640"/>
            <a:ext cx="2331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3. Evaluate</a:t>
            </a:r>
            <a:endParaRPr b="0" lang="en-SG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14"/>
          <p:cNvSpPr/>
          <p:nvPr/>
        </p:nvSpPr>
        <p:spPr>
          <a:xfrm>
            <a:off x="6423840" y="3383280"/>
            <a:ext cx="220320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eaf2f7"/>
                </a:solidFill>
                <a:effectLst/>
                <a:uFillTx/>
                <a:latin typeface="Calibri"/>
                <a:ea typeface="Calibri"/>
              </a:rPr>
              <a:t>Score the trained model against a test dataset and produce an evaluation report.</a:t>
            </a:r>
            <a:endParaRPr b="0" lang="en-SG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15"/>
          <p:cNvSpPr/>
          <p:nvPr/>
        </p:nvSpPr>
        <p:spPr>
          <a:xfrm>
            <a:off x="8755560" y="3108960"/>
            <a:ext cx="4021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5b6b76"/>
                </a:solidFill>
                <a:effectLst/>
                <a:uFillTx/>
                <a:latin typeface="Calibri"/>
                <a:ea typeface="Calibri"/>
              </a:rPr>
              <a:t>→</a:t>
            </a:r>
            <a:endParaRPr b="0" lang="en-SG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Shape 16"/>
          <p:cNvSpPr/>
          <p:nvPr/>
        </p:nvSpPr>
        <p:spPr>
          <a:xfrm>
            <a:off x="9084600" y="1600200"/>
            <a:ext cx="2605680" cy="3565800"/>
          </a:xfrm>
          <a:prstGeom prst="roundRect">
            <a:avLst>
              <a:gd name="adj" fmla="val 3509"/>
            </a:avLst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SG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Shape 17"/>
          <p:cNvSpPr/>
          <p:nvPr/>
        </p:nvSpPr>
        <p:spPr>
          <a:xfrm>
            <a:off x="10021680" y="1920240"/>
            <a:ext cx="731160" cy="73116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SG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1" name="Image 3" descr="preencoded.png"/>
          <p:cNvPicPr/>
          <p:nvPr/>
        </p:nvPicPr>
        <p:blipFill>
          <a:blip r:embed="rId4"/>
          <a:stretch/>
        </p:blipFill>
        <p:spPr>
          <a:xfrm>
            <a:off x="10124280" y="2022480"/>
            <a:ext cx="526320" cy="526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2" name="Text 18"/>
          <p:cNvSpPr/>
          <p:nvPr/>
        </p:nvSpPr>
        <p:spPr>
          <a:xfrm>
            <a:off x="9221760" y="2834640"/>
            <a:ext cx="2331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4. Conditional Register</a:t>
            </a:r>
            <a:endParaRPr b="0" lang="en-SG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19"/>
          <p:cNvSpPr/>
          <p:nvPr/>
        </p:nvSpPr>
        <p:spPr>
          <a:xfrm>
            <a:off x="9285840" y="3383280"/>
            <a:ext cx="220320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eaf2f7"/>
                </a:solidFill>
                <a:effectLst/>
                <a:uFillTx/>
                <a:latin typeface="Calibri"/>
                <a:ea typeface="Calibri"/>
              </a:rPr>
              <a:t>Register to the Model Registry only if the model clears a defined threshold of &gt;0.8 for R2 score</a:t>
            </a:r>
            <a:endParaRPr b="0" lang="en-SG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20"/>
          <p:cNvSpPr/>
          <p:nvPr/>
        </p:nvSpPr>
        <p:spPr>
          <a:xfrm>
            <a:off x="457200" y="653796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5b6b76"/>
                </a:solidFill>
                <a:effectLst/>
                <a:uFillTx/>
                <a:latin typeface="Calibri"/>
                <a:ea typeface="Calibri"/>
              </a:rPr>
              <a:t>My Rent &amp; Investment Estimator   |  ITI113 Team 08</a:t>
            </a:r>
            <a:endParaRPr b="0" lang="en-SG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21"/>
          <p:cNvSpPr/>
          <p:nvPr/>
        </p:nvSpPr>
        <p:spPr>
          <a:xfrm>
            <a:off x="11521440" y="653796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5b6b76"/>
                </a:solidFill>
                <a:effectLst/>
                <a:uFillTx/>
                <a:latin typeface="Calibri"/>
                <a:ea typeface="Calibri"/>
              </a:rPr>
              <a:t>5</a:t>
            </a:r>
            <a:endParaRPr b="0" lang="en-SG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Text 0"/>
          <p:cNvSpPr/>
          <p:nvPr/>
        </p:nvSpPr>
        <p:spPr>
          <a:xfrm>
            <a:off x="548640" y="411480"/>
            <a:ext cx="91436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1a2733"/>
                </a:solidFill>
                <a:effectLst/>
                <a:uFillTx/>
                <a:latin typeface="Cambria"/>
                <a:ea typeface="Cambria"/>
              </a:rPr>
              <a:t>Model Selection</a:t>
            </a:r>
            <a:endParaRPr b="0" lang="en-SG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1"/>
          <p:cNvSpPr/>
          <p:nvPr/>
        </p:nvSpPr>
        <p:spPr>
          <a:xfrm>
            <a:off x="548640" y="960120"/>
            <a:ext cx="9143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trike="noStrike" u="none">
                <a:solidFill>
                  <a:srgbClr val="5b6b76"/>
                </a:solidFill>
                <a:effectLst/>
                <a:uFillTx/>
                <a:latin typeface="Calibri"/>
                <a:ea typeface="Calibri"/>
              </a:rPr>
              <a:t>Several regression approaches were experiment before select the model</a:t>
            </a:r>
            <a:endParaRPr b="0" lang="en-SG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Shape 2"/>
          <p:cNvSpPr/>
          <p:nvPr/>
        </p:nvSpPr>
        <p:spPr>
          <a:xfrm>
            <a:off x="516600" y="1600200"/>
            <a:ext cx="5394600" cy="1691280"/>
          </a:xfrm>
          <a:prstGeom prst="roundRect">
            <a:avLst>
              <a:gd name="adj" fmla="val 5405"/>
            </a:avLst>
          </a:prstGeom>
          <a:solidFill>
            <a:srgbClr val="f2f7fa"/>
          </a:solidFill>
          <a:ln w="12700">
            <a:solidFill>
              <a:srgbClr val="d7e4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SG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3"/>
          <p:cNvSpPr/>
          <p:nvPr/>
        </p:nvSpPr>
        <p:spPr>
          <a:xfrm>
            <a:off x="790920" y="1783080"/>
            <a:ext cx="48459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1a2733"/>
                </a:solidFill>
                <a:effectLst/>
                <a:uFillTx/>
                <a:latin typeface="Calibri"/>
                <a:ea typeface="Calibri"/>
              </a:rPr>
              <a:t>Random Forest Regressor as base model </a:t>
            </a:r>
            <a:endParaRPr b="0" lang="en-SG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4"/>
          <p:cNvSpPr/>
          <p:nvPr/>
        </p:nvSpPr>
        <p:spPr>
          <a:xfrm>
            <a:off x="790920" y="2258640"/>
            <a:ext cx="48459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5b6b76"/>
                </a:solidFill>
                <a:effectLst/>
                <a:uFillTx/>
                <a:latin typeface="Calibri"/>
                <a:ea typeface="Calibri"/>
              </a:rPr>
              <a:t>Baseline linear approach is  fast and interpretable, reduces overfitting,less sensitive to outliers and handles nonlinear relationships well</a:t>
            </a:r>
            <a:endParaRPr b="0" lang="en-SG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Shape 5"/>
          <p:cNvSpPr/>
          <p:nvPr/>
        </p:nvSpPr>
        <p:spPr>
          <a:xfrm>
            <a:off x="6277320" y="1593720"/>
            <a:ext cx="5394600" cy="1691280"/>
          </a:xfrm>
          <a:prstGeom prst="roundRect">
            <a:avLst>
              <a:gd name="adj" fmla="val 5405"/>
            </a:avLst>
          </a:prstGeom>
          <a:solidFill>
            <a:srgbClr val="f2f7fa"/>
          </a:solidFill>
          <a:ln w="12700">
            <a:solidFill>
              <a:srgbClr val="d7e4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SG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6"/>
          <p:cNvSpPr/>
          <p:nvPr/>
        </p:nvSpPr>
        <p:spPr>
          <a:xfrm>
            <a:off x="6551640" y="1783080"/>
            <a:ext cx="48459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1a2733"/>
                </a:solidFill>
                <a:effectLst/>
                <a:uFillTx/>
                <a:latin typeface="Calibri"/>
                <a:ea typeface="Calibri"/>
              </a:rPr>
              <a:t>Random Forest with hyperparameters tuning</a:t>
            </a:r>
            <a:endParaRPr b="0" lang="en-SG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7"/>
          <p:cNvSpPr/>
          <p:nvPr/>
        </p:nvSpPr>
        <p:spPr>
          <a:xfrm>
            <a:off x="6551640" y="2258640"/>
            <a:ext cx="48459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5b6b76"/>
                </a:solidFill>
                <a:effectLst/>
                <a:uFillTx/>
                <a:latin typeface="Calibri"/>
                <a:ea typeface="Calibri"/>
              </a:rPr>
              <a:t>Find combination of settings that gives the best prediction performance with tuning on n_estimators(number of trees),max_depth(Max depth of each tree)</a:t>
            </a:r>
            <a:endParaRPr b="0" lang="en-SG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Shape 11"/>
          <p:cNvSpPr/>
          <p:nvPr/>
        </p:nvSpPr>
        <p:spPr>
          <a:xfrm>
            <a:off x="542520" y="3512520"/>
            <a:ext cx="5394600" cy="1691280"/>
          </a:xfrm>
          <a:prstGeom prst="roundRect">
            <a:avLst>
              <a:gd name="adj" fmla="val 5405"/>
            </a:avLst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SG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13"/>
          <p:cNvSpPr/>
          <p:nvPr/>
        </p:nvSpPr>
        <p:spPr>
          <a:xfrm>
            <a:off x="914400" y="4289760"/>
            <a:ext cx="4800600" cy="73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e3eef5"/>
                </a:solidFill>
                <a:effectLst/>
                <a:uFillTx/>
                <a:latin typeface="Calibri"/>
                <a:ea typeface="Calibri"/>
              </a:rPr>
              <a:t>Gradient-boosted trees; selected for production based on regression performance with lowest MAE,RMSE and R2 score</a:t>
            </a:r>
            <a:endParaRPr b="0" lang="en-SG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14"/>
          <p:cNvSpPr/>
          <p:nvPr/>
        </p:nvSpPr>
        <p:spPr>
          <a:xfrm>
            <a:off x="457200" y="653796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5b6b76"/>
                </a:solidFill>
                <a:effectLst/>
                <a:uFillTx/>
                <a:latin typeface="Calibri"/>
                <a:ea typeface="Calibri"/>
              </a:rPr>
              <a:t>My Rent &amp; Investment Estimator   |  ITI113 Team 08</a:t>
            </a:r>
            <a:endParaRPr b="0" lang="en-SG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15"/>
          <p:cNvSpPr/>
          <p:nvPr/>
        </p:nvSpPr>
        <p:spPr>
          <a:xfrm>
            <a:off x="11521440" y="653796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5b6b76"/>
                </a:solidFill>
                <a:effectLst/>
                <a:uFillTx/>
                <a:latin typeface="Calibri"/>
                <a:ea typeface="Calibri"/>
              </a:rPr>
              <a:t>6</a:t>
            </a:r>
            <a:endParaRPr b="0" lang="en-SG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30"/>
          <p:cNvSpPr/>
          <p:nvPr/>
        </p:nvSpPr>
        <p:spPr>
          <a:xfrm>
            <a:off x="914400" y="3794760"/>
            <a:ext cx="45720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XGBoost — Selected</a:t>
            </a:r>
            <a:endParaRPr b="0" lang="en-SG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Shape 9"/>
          <p:cNvSpPr/>
          <p:nvPr/>
        </p:nvSpPr>
        <p:spPr>
          <a:xfrm>
            <a:off x="6264000" y="3566520"/>
            <a:ext cx="5394600" cy="1691280"/>
          </a:xfrm>
          <a:prstGeom prst="roundRect">
            <a:avLst>
              <a:gd name="adj" fmla="val 5405"/>
            </a:avLst>
          </a:prstGeom>
          <a:solidFill>
            <a:srgbClr val="f2f7fa"/>
          </a:solidFill>
          <a:ln w="12700">
            <a:solidFill>
              <a:srgbClr val="d7e4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SG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"/>
          <p:cNvSpPr txBox="1"/>
          <p:nvPr/>
        </p:nvSpPr>
        <p:spPr>
          <a:xfrm>
            <a:off x="6464520" y="3657600"/>
            <a:ext cx="5029200" cy="316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1" lang="en-SG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Comparison of 3 Models on MAE RMSE R2 Score</a:t>
            </a:r>
            <a:endParaRPr b="1" lang="en-SG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41" name=""/>
          <p:cNvGraphicFramePr/>
          <p:nvPr/>
        </p:nvGraphicFramePr>
        <p:xfrm>
          <a:off x="6629400" y="4114800"/>
          <a:ext cx="4800240" cy="685800"/>
        </p:xfrm>
        <a:graphic>
          <a:graphicData uri="http://schemas.openxmlformats.org/drawingml/2006/table">
            <a:tbl>
              <a:tblPr/>
              <a:tblGrid>
                <a:gridCol w="1199880"/>
                <a:gridCol w="1199880"/>
                <a:gridCol w="1199880"/>
                <a:gridCol w="1200960"/>
              </a:tblGrid>
              <a:tr h="22500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SG" sz="1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Model</a:t>
                      </a:r>
                      <a:endParaRPr b="0" lang="en-SG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SG" sz="1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MAE</a:t>
                      </a:r>
                      <a:endParaRPr b="0" lang="en-SG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SG" sz="1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RMSE</a:t>
                      </a:r>
                      <a:endParaRPr b="0" lang="en-SG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SG" sz="1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R2</a:t>
                      </a:r>
                      <a:endParaRPr b="0" lang="en-SG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2500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SG" sz="1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RF Baseline</a:t>
                      </a:r>
                      <a:endParaRPr b="0" lang="en-SG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SG" sz="1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0.660</a:t>
                      </a:r>
                      <a:endParaRPr b="0" lang="en-SG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SG" sz="1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1.05</a:t>
                      </a:r>
                      <a:endParaRPr b="0" lang="en-SG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SG" sz="1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0.795</a:t>
                      </a:r>
                      <a:endParaRPr b="0" lang="en-SG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2500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SG" sz="1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RF Tuned</a:t>
                      </a:r>
                      <a:endParaRPr b="0" lang="en-SG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SG" sz="1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0.675</a:t>
                      </a:r>
                      <a:endParaRPr b="0" lang="en-SG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SG" sz="1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1.05</a:t>
                      </a:r>
                      <a:endParaRPr b="0" lang="en-SG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SG" sz="1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0.795</a:t>
                      </a:r>
                      <a:endParaRPr b="0" lang="en-SG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2500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SG" sz="1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XGBoost </a:t>
                      </a:r>
                      <a:endParaRPr b="0" lang="en-SG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SG" sz="1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0.642</a:t>
                      </a:r>
                      <a:endParaRPr b="0" lang="en-SG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SG" sz="1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1.032</a:t>
                      </a:r>
                      <a:endParaRPr b="0" lang="en-SG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SG" sz="1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0.810</a:t>
                      </a:r>
                      <a:endParaRPr b="0" lang="en-SG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Text 0"/>
          <p:cNvSpPr/>
          <p:nvPr/>
        </p:nvSpPr>
        <p:spPr>
          <a:xfrm>
            <a:off x="548640" y="411480"/>
            <a:ext cx="100580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1a2733"/>
                </a:solidFill>
                <a:effectLst/>
                <a:uFillTx/>
                <a:latin typeface="Cambria"/>
                <a:ea typeface="Cambria"/>
              </a:rPr>
              <a:t>Experiment Tracking: MLflow App</a:t>
            </a:r>
            <a:endParaRPr b="0" lang="en-SG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1"/>
          <p:cNvSpPr/>
          <p:nvPr/>
        </p:nvSpPr>
        <p:spPr>
          <a:xfrm>
            <a:off x="548640" y="1234440"/>
            <a:ext cx="5486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Why a SageMaker MLflow App</a:t>
            </a:r>
            <a:endParaRPr b="0" lang="en-SG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Shape 2"/>
          <p:cNvSpPr/>
          <p:nvPr/>
        </p:nvSpPr>
        <p:spPr>
          <a:xfrm>
            <a:off x="548640" y="1746360"/>
            <a:ext cx="127800" cy="12780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SG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3"/>
          <p:cNvSpPr/>
          <p:nvPr/>
        </p:nvSpPr>
        <p:spPr>
          <a:xfrm>
            <a:off x="868680" y="1618560"/>
            <a:ext cx="51660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1a2733"/>
                </a:solidFill>
                <a:effectLst/>
                <a:uFillTx/>
                <a:latin typeface="Calibri"/>
                <a:ea typeface="Calibri"/>
              </a:rPr>
              <a:t>No server to provision, patch, or keep alive — fully managed and serverless</a:t>
            </a:r>
            <a:endParaRPr b="0" lang="en-SG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Shape 4"/>
          <p:cNvSpPr/>
          <p:nvPr/>
        </p:nvSpPr>
        <p:spPr>
          <a:xfrm>
            <a:off x="548640" y="2313360"/>
            <a:ext cx="127800" cy="12780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SG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5"/>
          <p:cNvSpPr/>
          <p:nvPr/>
        </p:nvSpPr>
        <p:spPr>
          <a:xfrm>
            <a:off x="868680" y="2185560"/>
            <a:ext cx="51660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1a2733"/>
                </a:solidFill>
                <a:effectLst/>
                <a:uFillTx/>
                <a:latin typeface="Calibri"/>
                <a:ea typeface="Calibri"/>
              </a:rPr>
              <a:t>Addressed directly by ARN, found by name rather than assumed</a:t>
            </a:r>
            <a:endParaRPr b="0" lang="en-SG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Shape 6"/>
          <p:cNvSpPr/>
          <p:nvPr/>
        </p:nvSpPr>
        <p:spPr>
          <a:xfrm>
            <a:off x="548640" y="2880360"/>
            <a:ext cx="127800" cy="12780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SG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7"/>
          <p:cNvSpPr/>
          <p:nvPr/>
        </p:nvSpPr>
        <p:spPr>
          <a:xfrm>
            <a:off x="868680" y="2752200"/>
            <a:ext cx="51660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1a2733"/>
                </a:solidFill>
                <a:effectLst/>
                <a:uFillTx/>
                <a:latin typeface="Calibri"/>
                <a:ea typeface="Calibri"/>
              </a:rPr>
              <a:t>Every pipeline run logs parameters, metrics, and tags automatically</a:t>
            </a:r>
            <a:endParaRPr b="0" lang="en-SG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Shape 8"/>
          <p:cNvSpPr/>
          <p:nvPr/>
        </p:nvSpPr>
        <p:spPr>
          <a:xfrm>
            <a:off x="548640" y="3447360"/>
            <a:ext cx="127800" cy="12780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SG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9"/>
          <p:cNvSpPr/>
          <p:nvPr/>
        </p:nvSpPr>
        <p:spPr>
          <a:xfrm>
            <a:off x="868680" y="3319200"/>
            <a:ext cx="51660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1a2733"/>
                </a:solidFill>
                <a:effectLst/>
                <a:uFillTx/>
                <a:latin typeface="Calibri"/>
                <a:ea typeface="Calibri"/>
              </a:rPr>
              <a:t>Model artifacts link directly to the corresponding Model Package</a:t>
            </a:r>
            <a:endParaRPr b="0" lang="en-SG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Shape 10"/>
          <p:cNvSpPr/>
          <p:nvPr/>
        </p:nvSpPr>
        <p:spPr>
          <a:xfrm>
            <a:off x="6492240" y="1371600"/>
            <a:ext cx="5120280" cy="3931560"/>
          </a:xfrm>
          <a:prstGeom prst="roundRect">
            <a:avLst>
              <a:gd name="adj" fmla="val 2326"/>
            </a:avLst>
          </a:prstGeom>
          <a:solidFill>
            <a:srgbClr val="f2f7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SG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Shape 11"/>
          <p:cNvSpPr/>
          <p:nvPr/>
        </p:nvSpPr>
        <p:spPr>
          <a:xfrm>
            <a:off x="6812280" y="1600200"/>
            <a:ext cx="594000" cy="59400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SG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54" name="Image 0" descr="preencoded.png"/>
          <p:cNvPicPr/>
          <p:nvPr/>
        </p:nvPicPr>
        <p:blipFill>
          <a:blip r:embed="rId1"/>
          <a:stretch/>
        </p:blipFill>
        <p:spPr>
          <a:xfrm>
            <a:off x="6895440" y="1683360"/>
            <a:ext cx="427680" cy="427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5" name="Text 12"/>
          <p:cNvSpPr/>
          <p:nvPr/>
        </p:nvSpPr>
        <p:spPr>
          <a:xfrm>
            <a:off x="7589520" y="1572840"/>
            <a:ext cx="3748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1a2733"/>
                </a:solidFill>
                <a:effectLst/>
                <a:uFillTx/>
                <a:latin typeface="Calibri"/>
                <a:ea typeface="Calibri"/>
              </a:rPr>
              <a:t>Pipeline Run</a:t>
            </a:r>
            <a:endParaRPr b="0" lang="en-SG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13"/>
          <p:cNvSpPr/>
          <p:nvPr/>
        </p:nvSpPr>
        <p:spPr>
          <a:xfrm>
            <a:off x="7589520" y="1892880"/>
            <a:ext cx="3748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5b6b76"/>
                </a:solidFill>
                <a:effectLst/>
                <a:uFillTx/>
                <a:latin typeface="Calibri"/>
                <a:ea typeface="Calibri"/>
              </a:rPr>
              <a:t>logs params, metrics, tags</a:t>
            </a:r>
            <a:endParaRPr b="0" lang="en-SG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14"/>
          <p:cNvSpPr/>
          <p:nvPr/>
        </p:nvSpPr>
        <p:spPr>
          <a:xfrm>
            <a:off x="6949440" y="2221920"/>
            <a:ext cx="3654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↓</a:t>
            </a:r>
            <a:endParaRPr b="0" lang="en-SG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Shape 15"/>
          <p:cNvSpPr/>
          <p:nvPr/>
        </p:nvSpPr>
        <p:spPr>
          <a:xfrm>
            <a:off x="6812280" y="2834640"/>
            <a:ext cx="594000" cy="59400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SG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59" name="Image 1" descr="preencoded.png"/>
          <p:cNvPicPr/>
          <p:nvPr/>
        </p:nvPicPr>
        <p:blipFill>
          <a:blip r:embed="rId2"/>
          <a:stretch/>
        </p:blipFill>
        <p:spPr>
          <a:xfrm>
            <a:off x="6895440" y="2917800"/>
            <a:ext cx="427680" cy="427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0" name="Text 16"/>
          <p:cNvSpPr/>
          <p:nvPr/>
        </p:nvSpPr>
        <p:spPr>
          <a:xfrm>
            <a:off x="7589520" y="2807280"/>
            <a:ext cx="3748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1a2733"/>
                </a:solidFill>
                <a:effectLst/>
                <a:uFillTx/>
                <a:latin typeface="Calibri"/>
                <a:ea typeface="Calibri"/>
              </a:rPr>
              <a:t>MLflow App</a:t>
            </a:r>
            <a:endParaRPr b="0" lang="en-SG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17"/>
          <p:cNvSpPr/>
          <p:nvPr/>
        </p:nvSpPr>
        <p:spPr>
          <a:xfrm>
            <a:off x="7589520" y="3127320"/>
            <a:ext cx="3748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5b6b76"/>
                </a:solidFill>
                <a:effectLst/>
                <a:uFillTx/>
                <a:latin typeface="Calibri"/>
                <a:ea typeface="Calibri"/>
              </a:rPr>
              <a:t>central experiment store, addressed by ARN</a:t>
            </a:r>
            <a:endParaRPr b="0" lang="en-SG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18"/>
          <p:cNvSpPr/>
          <p:nvPr/>
        </p:nvSpPr>
        <p:spPr>
          <a:xfrm>
            <a:off x="6949440" y="3456360"/>
            <a:ext cx="3654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↓</a:t>
            </a:r>
            <a:endParaRPr b="0" lang="en-SG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Shape 19"/>
          <p:cNvSpPr/>
          <p:nvPr/>
        </p:nvSpPr>
        <p:spPr>
          <a:xfrm>
            <a:off x="6812280" y="4069080"/>
            <a:ext cx="594000" cy="59400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SG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64" name="Image 2" descr="preencoded.png"/>
          <p:cNvPicPr/>
          <p:nvPr/>
        </p:nvPicPr>
        <p:blipFill>
          <a:blip r:embed="rId3"/>
          <a:stretch/>
        </p:blipFill>
        <p:spPr>
          <a:xfrm>
            <a:off x="6895440" y="4152240"/>
            <a:ext cx="427680" cy="427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5" name="Text 20"/>
          <p:cNvSpPr/>
          <p:nvPr/>
        </p:nvSpPr>
        <p:spPr>
          <a:xfrm>
            <a:off x="7589520" y="4041720"/>
            <a:ext cx="3748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1a2733"/>
                </a:solidFill>
                <a:effectLst/>
                <a:uFillTx/>
                <a:latin typeface="Calibri"/>
                <a:ea typeface="Calibri"/>
              </a:rPr>
              <a:t>Presigned URL</a:t>
            </a:r>
            <a:endParaRPr b="0" lang="en-SG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21"/>
          <p:cNvSpPr/>
          <p:nvPr/>
        </p:nvSpPr>
        <p:spPr>
          <a:xfrm>
            <a:off x="7589520" y="4361760"/>
            <a:ext cx="3748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5b6b76"/>
                </a:solidFill>
                <a:effectLst/>
                <a:uFillTx/>
                <a:latin typeface="Calibri"/>
                <a:ea typeface="Calibri"/>
              </a:rPr>
              <a:t>authenticated link to view runs in the UI</a:t>
            </a:r>
            <a:endParaRPr b="0" lang="en-SG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22"/>
          <p:cNvSpPr/>
          <p:nvPr/>
        </p:nvSpPr>
        <p:spPr>
          <a:xfrm>
            <a:off x="457200" y="653796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5b6b76"/>
                </a:solidFill>
                <a:effectLst/>
                <a:uFillTx/>
                <a:latin typeface="Calibri"/>
                <a:ea typeface="Calibri"/>
              </a:rPr>
              <a:t>My Rent &amp; Investment Estimator  |  ITI113 Team 08</a:t>
            </a:r>
            <a:endParaRPr b="0" lang="en-SG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23"/>
          <p:cNvSpPr/>
          <p:nvPr/>
        </p:nvSpPr>
        <p:spPr>
          <a:xfrm>
            <a:off x="11521440" y="653796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5b6b76"/>
                </a:solidFill>
                <a:effectLst/>
                <a:uFillTx/>
                <a:latin typeface="Calibri"/>
                <a:ea typeface="Calibri"/>
              </a:rPr>
              <a:t>7</a:t>
            </a:r>
            <a:endParaRPr b="0" lang="en-SG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"/>
          <p:cNvSpPr txBox="1"/>
          <p:nvPr/>
        </p:nvSpPr>
        <p:spPr>
          <a:xfrm>
            <a:off x="6629400" y="5460840"/>
            <a:ext cx="5029200" cy="254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en-SG" sz="1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Jupyter Notebook: </a:t>
            </a:r>
            <a:r>
              <a:rPr b="1" lang="en-SG" sz="1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4697566D_ITI113_experiment_SageMaker_mlflow_app_arn.ipynb</a:t>
            </a:r>
            <a:endParaRPr b="0" lang="en-SG" sz="10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Text 0"/>
          <p:cNvSpPr/>
          <p:nvPr/>
        </p:nvSpPr>
        <p:spPr>
          <a:xfrm>
            <a:off x="548640" y="411480"/>
            <a:ext cx="100580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1a2733"/>
                </a:solidFill>
                <a:effectLst/>
                <a:uFillTx/>
                <a:latin typeface="Cambria"/>
                <a:ea typeface="Cambria"/>
              </a:rPr>
              <a:t>Model Deployment: Real-Time Endpoint</a:t>
            </a:r>
            <a:endParaRPr b="0" lang="en-SG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Shape 1"/>
          <p:cNvSpPr/>
          <p:nvPr/>
        </p:nvSpPr>
        <p:spPr>
          <a:xfrm>
            <a:off x="516600" y="1417320"/>
            <a:ext cx="548280" cy="54828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SG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72" name="Image 0" descr="preencoded.png"/>
          <p:cNvPicPr/>
          <p:nvPr/>
        </p:nvPicPr>
        <p:blipFill>
          <a:blip r:embed="rId1"/>
          <a:stretch/>
        </p:blipFill>
        <p:spPr>
          <a:xfrm>
            <a:off x="593280" y="1494000"/>
            <a:ext cx="394560" cy="394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3" name="Text 2"/>
          <p:cNvSpPr/>
          <p:nvPr/>
        </p:nvSpPr>
        <p:spPr>
          <a:xfrm>
            <a:off x="1202400" y="1398960"/>
            <a:ext cx="47088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trike="noStrike" u="none">
                <a:solidFill>
                  <a:srgbClr val="1a2733"/>
                </a:solidFill>
                <a:effectLst/>
                <a:uFillTx/>
                <a:latin typeface="Calibri"/>
                <a:ea typeface="Calibri"/>
              </a:rPr>
              <a:t>Flexible Input</a:t>
            </a:r>
            <a:endParaRPr b="0" lang="en-SG" sz="14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3"/>
          <p:cNvSpPr/>
          <p:nvPr/>
        </p:nvSpPr>
        <p:spPr>
          <a:xfrm>
            <a:off x="1202400" y="1783080"/>
            <a:ext cx="470880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5b6b76"/>
                </a:solidFill>
                <a:effectLst/>
                <a:uFillTx/>
                <a:latin typeface="Calibri"/>
                <a:ea typeface="Calibri"/>
              </a:rPr>
              <a:t>Accepts application/json or text/csv; JSON supports a compact single “district” field, expanded internally to the full one-hot form.</a:t>
            </a:r>
            <a:endParaRPr b="0" lang="en-SG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Shape 4"/>
          <p:cNvSpPr/>
          <p:nvPr/>
        </p:nvSpPr>
        <p:spPr>
          <a:xfrm>
            <a:off x="6277320" y="1417320"/>
            <a:ext cx="548280" cy="54828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SG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76" name="Image 1" descr="preencoded.png"/>
          <p:cNvPicPr/>
          <p:nvPr/>
        </p:nvPicPr>
        <p:blipFill>
          <a:blip r:embed="rId2"/>
          <a:stretch/>
        </p:blipFill>
        <p:spPr>
          <a:xfrm>
            <a:off x="6354000" y="1494000"/>
            <a:ext cx="394560" cy="394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7" name="Text 5"/>
          <p:cNvSpPr/>
          <p:nvPr/>
        </p:nvSpPr>
        <p:spPr>
          <a:xfrm>
            <a:off x="6963120" y="1398960"/>
            <a:ext cx="47088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trike="noStrike" u="none">
                <a:solidFill>
                  <a:srgbClr val="1a2733"/>
                </a:solidFill>
                <a:effectLst/>
                <a:uFillTx/>
                <a:latin typeface="Calibri"/>
                <a:ea typeface="Calibri"/>
              </a:rPr>
              <a:t>Validated Inputs</a:t>
            </a:r>
            <a:endParaRPr b="0" lang="en-SG" sz="14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6"/>
          <p:cNvSpPr/>
          <p:nvPr/>
        </p:nvSpPr>
        <p:spPr>
          <a:xfrm>
            <a:off x="6963120" y="1783080"/>
            <a:ext cx="470880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5b6b76"/>
                </a:solidFill>
                <a:effectLst/>
                <a:uFillTx/>
                <a:latin typeface="Calibri"/>
                <a:ea typeface="Calibri"/>
              </a:rPr>
              <a:t>Bedroom count and floor area are checked to be whole numbers before scoring.</a:t>
            </a:r>
            <a:endParaRPr b="0" lang="en-SG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Shape 7"/>
          <p:cNvSpPr/>
          <p:nvPr/>
        </p:nvSpPr>
        <p:spPr>
          <a:xfrm>
            <a:off x="516600" y="3657600"/>
            <a:ext cx="548280" cy="54828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SG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80" name="Image 2" descr="preencoded.png"/>
          <p:cNvPicPr/>
          <p:nvPr/>
        </p:nvPicPr>
        <p:blipFill>
          <a:blip r:embed="rId3"/>
          <a:stretch/>
        </p:blipFill>
        <p:spPr>
          <a:xfrm>
            <a:off x="593280" y="3734280"/>
            <a:ext cx="394560" cy="394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1" name="Text 8"/>
          <p:cNvSpPr/>
          <p:nvPr/>
        </p:nvSpPr>
        <p:spPr>
          <a:xfrm>
            <a:off x="1202400" y="3639240"/>
            <a:ext cx="47088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trike="noStrike" u="none">
                <a:solidFill>
                  <a:srgbClr val="1a2733"/>
                </a:solidFill>
                <a:effectLst/>
                <a:uFillTx/>
                <a:latin typeface="Calibri"/>
                <a:ea typeface="Calibri"/>
              </a:rPr>
              <a:t>Versioned Naming</a:t>
            </a:r>
            <a:endParaRPr b="0" lang="en-SG" sz="14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9"/>
          <p:cNvSpPr/>
          <p:nvPr/>
        </p:nvSpPr>
        <p:spPr>
          <a:xfrm>
            <a:off x="1202400" y="4023360"/>
            <a:ext cx="470880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5b6b76"/>
                </a:solidFill>
                <a:effectLst/>
                <a:uFillTx/>
                <a:latin typeface="Calibri"/>
                <a:ea typeface="Calibri"/>
              </a:rPr>
              <a:t>Endpoints follow sgp-rental-price-endpoint-v2-{model_package_version}, so each approved model gets its own named endpoint.</a:t>
            </a:r>
            <a:endParaRPr b="0" lang="en-SG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Shape 10"/>
          <p:cNvSpPr/>
          <p:nvPr/>
        </p:nvSpPr>
        <p:spPr>
          <a:xfrm>
            <a:off x="6277320" y="3657600"/>
            <a:ext cx="548280" cy="54828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SG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84" name="Image 3" descr="preencoded.png"/>
          <p:cNvPicPr/>
          <p:nvPr/>
        </p:nvPicPr>
        <p:blipFill>
          <a:blip r:embed="rId4"/>
          <a:stretch/>
        </p:blipFill>
        <p:spPr>
          <a:xfrm>
            <a:off x="6354000" y="3734280"/>
            <a:ext cx="394560" cy="394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5" name="Text 11"/>
          <p:cNvSpPr/>
          <p:nvPr/>
        </p:nvSpPr>
        <p:spPr>
          <a:xfrm>
            <a:off x="6963120" y="3639240"/>
            <a:ext cx="47088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trike="noStrike" u="none">
                <a:solidFill>
                  <a:srgbClr val="1a2733"/>
                </a:solidFill>
                <a:effectLst/>
                <a:uFillTx/>
                <a:latin typeface="Calibri"/>
                <a:ea typeface="Calibri"/>
              </a:rPr>
              <a:t>Dollar-Scaled Output</a:t>
            </a:r>
            <a:endParaRPr b="0" lang="en-SG" sz="14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12"/>
          <p:cNvSpPr/>
          <p:nvPr/>
        </p:nvSpPr>
        <p:spPr>
          <a:xfrm>
            <a:off x="6963120" y="4023360"/>
            <a:ext cx="470880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5b6b76"/>
                </a:solidFill>
                <a:effectLst/>
                <a:uFillTx/>
                <a:latin typeface="Calibri"/>
                <a:ea typeface="Calibri"/>
              </a:rPr>
              <a:t>The model predicts on a thousands scale internally; the inference script rescales the response back to plain dollar amounts.</a:t>
            </a:r>
            <a:endParaRPr b="0" lang="en-SG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13"/>
          <p:cNvSpPr/>
          <p:nvPr/>
        </p:nvSpPr>
        <p:spPr>
          <a:xfrm>
            <a:off x="457200" y="653796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5b6b76"/>
                </a:solidFill>
                <a:effectLst/>
                <a:uFillTx/>
                <a:latin typeface="Calibri"/>
                <a:ea typeface="Calibri"/>
              </a:rPr>
              <a:t>My Rent &amp; Investment Estimator   |  ITI113 Team 08</a:t>
            </a:r>
            <a:endParaRPr b="0" lang="en-SG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14"/>
          <p:cNvSpPr/>
          <p:nvPr/>
        </p:nvSpPr>
        <p:spPr>
          <a:xfrm>
            <a:off x="11521440" y="653796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5b6b76"/>
                </a:solidFill>
                <a:effectLst/>
                <a:uFillTx/>
                <a:latin typeface="Calibri"/>
                <a:ea typeface="Calibri"/>
              </a:rPr>
              <a:t>8</a:t>
            </a:r>
            <a:endParaRPr b="0" lang="en-SG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"/>
          <p:cNvSpPr txBox="1"/>
          <p:nvPr/>
        </p:nvSpPr>
        <p:spPr>
          <a:xfrm>
            <a:off x="2057400" y="5486400"/>
            <a:ext cx="82296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1" lang="en-SG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Jupyter Notebook:4697566D_ITI113_My_Rental_Pipeline__MLflow_App_Web_R1.ipynb</a:t>
            </a:r>
            <a:endParaRPr b="1" lang="en-SG" sz="16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Text 0"/>
          <p:cNvSpPr/>
          <p:nvPr/>
        </p:nvSpPr>
        <p:spPr>
          <a:xfrm>
            <a:off x="548640" y="365760"/>
            <a:ext cx="54860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1a2733"/>
                </a:solidFill>
                <a:effectLst/>
                <a:uFillTx/>
                <a:latin typeface="Cambria"/>
                <a:ea typeface="Cambria"/>
              </a:rPr>
              <a:t>The Web Application</a:t>
            </a:r>
            <a:endParaRPr b="0" lang="en-SG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1"/>
          <p:cNvSpPr/>
          <p:nvPr/>
        </p:nvSpPr>
        <p:spPr>
          <a:xfrm>
            <a:off x="548640" y="896040"/>
            <a:ext cx="5486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trike="noStrike" u="none">
                <a:solidFill>
                  <a:srgbClr val="5b6b76"/>
                </a:solidFill>
                <a:effectLst/>
                <a:uFillTx/>
                <a:latin typeface="Calibri"/>
                <a:ea typeface="Calibri"/>
              </a:rPr>
              <a:t>“My Rent &amp; Investment Estimator” — built with Streamlit</a:t>
            </a:r>
            <a:endParaRPr b="0" lang="en-SG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Shape 2"/>
          <p:cNvSpPr/>
          <p:nvPr/>
        </p:nvSpPr>
        <p:spPr>
          <a:xfrm>
            <a:off x="548640" y="1654920"/>
            <a:ext cx="127800" cy="12780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SG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3"/>
          <p:cNvSpPr/>
          <p:nvPr/>
        </p:nvSpPr>
        <p:spPr>
          <a:xfrm>
            <a:off x="868680" y="1527120"/>
            <a:ext cx="44802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1a2733"/>
                </a:solidFill>
                <a:effectLst/>
                <a:uFillTx/>
                <a:latin typeface="Calibri"/>
                <a:ea typeface="Calibri"/>
              </a:rPr>
              <a:t>Bedrooms, floor area, lease date, district, and required yield as inputs</a:t>
            </a:r>
            <a:endParaRPr b="0" lang="en-SG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Shape 4"/>
          <p:cNvSpPr/>
          <p:nvPr/>
        </p:nvSpPr>
        <p:spPr>
          <a:xfrm>
            <a:off x="548640" y="2185560"/>
            <a:ext cx="127800" cy="12780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SG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 5"/>
          <p:cNvSpPr/>
          <p:nvPr/>
        </p:nvSpPr>
        <p:spPr>
          <a:xfrm>
            <a:off x="868680" y="2057400"/>
            <a:ext cx="44802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1a2733"/>
                </a:solidFill>
                <a:effectLst/>
                <a:uFillTx/>
                <a:latin typeface="Calibri"/>
                <a:ea typeface="Calibri"/>
              </a:rPr>
              <a:t>Calls the SageMaker endpoint directly via boto3</a:t>
            </a:r>
            <a:endParaRPr b="0" lang="en-SG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Shape 6"/>
          <p:cNvSpPr/>
          <p:nvPr/>
        </p:nvSpPr>
        <p:spPr>
          <a:xfrm>
            <a:off x="548640" y="2715840"/>
            <a:ext cx="127800" cy="12780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SG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7"/>
          <p:cNvSpPr/>
          <p:nvPr/>
        </p:nvSpPr>
        <p:spPr>
          <a:xfrm>
            <a:off x="868680" y="2587680"/>
            <a:ext cx="44802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1a2733"/>
                </a:solidFill>
                <a:effectLst/>
                <a:uFillTx/>
                <a:latin typeface="Calibri"/>
                <a:ea typeface="Calibri"/>
              </a:rPr>
              <a:t>Auto-discovers the live endpoint — no hardcoded, stale endpoint names</a:t>
            </a:r>
            <a:endParaRPr b="0" lang="en-SG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Shape 8"/>
          <p:cNvSpPr/>
          <p:nvPr/>
        </p:nvSpPr>
        <p:spPr>
          <a:xfrm>
            <a:off x="548640" y="3246120"/>
            <a:ext cx="127800" cy="12780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SG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9"/>
          <p:cNvSpPr/>
          <p:nvPr/>
        </p:nvSpPr>
        <p:spPr>
          <a:xfrm>
            <a:off x="868680" y="3117960"/>
            <a:ext cx="44802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1a2733"/>
                </a:solidFill>
                <a:effectLst/>
                <a:uFillTx/>
                <a:latin typeface="Calibri"/>
                <a:ea typeface="Calibri"/>
              </a:rPr>
              <a:t>Reference map &amp; median-rent-by-district chart to guide district selection</a:t>
            </a:r>
            <a:endParaRPr b="0" lang="en-SG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Shape 10"/>
          <p:cNvSpPr/>
          <p:nvPr/>
        </p:nvSpPr>
        <p:spPr>
          <a:xfrm>
            <a:off x="548640" y="3776400"/>
            <a:ext cx="127800" cy="12780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SG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 11"/>
          <p:cNvSpPr/>
          <p:nvPr/>
        </p:nvSpPr>
        <p:spPr>
          <a:xfrm>
            <a:off x="868680" y="3648600"/>
            <a:ext cx="44802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1a2733"/>
                </a:solidFill>
                <a:effectLst/>
                <a:uFillTx/>
                <a:latin typeface="Calibri"/>
                <a:ea typeface="Calibri"/>
              </a:rPr>
              <a:t>Converts predicted rent into an indicative investment value</a:t>
            </a:r>
            <a:endParaRPr b="0" lang="en-SG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Shape 12"/>
          <p:cNvSpPr/>
          <p:nvPr/>
        </p:nvSpPr>
        <p:spPr>
          <a:xfrm>
            <a:off x="5477400" y="996840"/>
            <a:ext cx="6235920" cy="3115080"/>
          </a:xfrm>
          <a:prstGeom prst="roundRect">
            <a:avLst>
              <a:gd name="adj" fmla="val 1174"/>
            </a:avLst>
          </a:prstGeom>
          <a:solidFill>
            <a:srgbClr val="ffffff"/>
          </a:solidFill>
          <a:ln w="19050">
            <a:solidFill>
              <a:srgbClr val="d7e4ec"/>
            </a:solidFill>
            <a:round/>
          </a:ln>
          <a:effectLst>
            <a:outerShdw algn="bl" blurRad="101520" dir="5400000" dist="38160" kx="0" ky="0" rotWithShape="0" sx="100000" sy="100000">
              <a:srgbClr val="888888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SG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3" name="Image 0" descr="app_screenshot_cropped.png"/>
          <p:cNvPicPr/>
          <p:nvPr/>
        </p:nvPicPr>
        <p:blipFill>
          <a:blip r:embed="rId1"/>
          <a:stretch/>
        </p:blipFill>
        <p:spPr>
          <a:xfrm>
            <a:off x="5532120" y="1051560"/>
            <a:ext cx="6126120" cy="3005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4" name="Text 13"/>
          <p:cNvSpPr/>
          <p:nvPr/>
        </p:nvSpPr>
        <p:spPr>
          <a:xfrm>
            <a:off x="457200" y="653796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5b6b76"/>
                </a:solidFill>
                <a:effectLst/>
                <a:uFillTx/>
                <a:latin typeface="Calibri"/>
                <a:ea typeface="Calibri"/>
              </a:rPr>
              <a:t>My Rent &amp; Investment Estimator |  ITI113 Team 08</a:t>
            </a:r>
            <a:endParaRPr b="0" lang="en-SG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14"/>
          <p:cNvSpPr/>
          <p:nvPr/>
        </p:nvSpPr>
        <p:spPr>
          <a:xfrm>
            <a:off x="11521440" y="653796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5b6b76"/>
                </a:solidFill>
                <a:effectLst/>
                <a:uFillTx/>
                <a:latin typeface="Calibri"/>
                <a:ea typeface="Calibri"/>
              </a:rPr>
              <a:t>9</a:t>
            </a:r>
            <a:endParaRPr b="0" lang="en-SG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Text 0"/>
          <p:cNvSpPr/>
          <p:nvPr/>
        </p:nvSpPr>
        <p:spPr>
          <a:xfrm>
            <a:off x="548640" y="411480"/>
            <a:ext cx="91436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1a2733"/>
                </a:solidFill>
                <a:effectLst/>
                <a:uFillTx/>
                <a:latin typeface="Cambria"/>
                <a:ea typeface="Cambria"/>
              </a:rPr>
              <a:t>Public Access via ngrok</a:t>
            </a:r>
            <a:endParaRPr b="0" lang="en-SG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1"/>
          <p:cNvSpPr/>
          <p:nvPr/>
        </p:nvSpPr>
        <p:spPr>
          <a:xfrm>
            <a:off x="548640" y="960120"/>
            <a:ext cx="10058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trike="noStrike" u="none">
                <a:solidFill>
                  <a:srgbClr val="5b6b76"/>
                </a:solidFill>
                <a:effectLst/>
                <a:uFillTx/>
                <a:latin typeface="Calibri"/>
                <a:ea typeface="Calibri"/>
              </a:rPr>
              <a:t>SageMaker Studio has no public HTTP endpoint of its own — ngrok tunnels the app out</a:t>
            </a:r>
            <a:endParaRPr b="0" lang="en-SG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Shape 2"/>
          <p:cNvSpPr/>
          <p:nvPr/>
        </p:nvSpPr>
        <p:spPr>
          <a:xfrm>
            <a:off x="675000" y="2148840"/>
            <a:ext cx="1965600" cy="1737000"/>
          </a:xfrm>
          <a:prstGeom prst="roundRect">
            <a:avLst>
              <a:gd name="adj" fmla="val 5263"/>
            </a:avLst>
          </a:prstGeom>
          <a:solidFill>
            <a:srgbClr val="f2f7fa"/>
          </a:solidFill>
          <a:ln w="12700">
            <a:solidFill>
              <a:srgbClr val="d7e4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SG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Shape 3"/>
          <p:cNvSpPr/>
          <p:nvPr/>
        </p:nvSpPr>
        <p:spPr>
          <a:xfrm>
            <a:off x="1337760" y="2404800"/>
            <a:ext cx="639720" cy="63972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SG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10" name="Image 0" descr="preencoded.png"/>
          <p:cNvPicPr/>
          <p:nvPr/>
        </p:nvPicPr>
        <p:blipFill>
          <a:blip r:embed="rId1"/>
          <a:stretch/>
        </p:blipFill>
        <p:spPr>
          <a:xfrm>
            <a:off x="1427400" y="2494440"/>
            <a:ext cx="46044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1" name="Text 4"/>
          <p:cNvSpPr/>
          <p:nvPr/>
        </p:nvSpPr>
        <p:spPr>
          <a:xfrm>
            <a:off x="748080" y="3173040"/>
            <a:ext cx="18194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1a2733"/>
                </a:solidFill>
                <a:effectLst/>
                <a:uFillTx/>
                <a:latin typeface="Calibri"/>
                <a:ea typeface="Calibri"/>
              </a:rPr>
              <a:t>Browser</a:t>
            </a:r>
            <a:endParaRPr b="0" lang="en-SG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 5"/>
          <p:cNvSpPr/>
          <p:nvPr/>
        </p:nvSpPr>
        <p:spPr>
          <a:xfrm>
            <a:off x="748080" y="3520440"/>
            <a:ext cx="1819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5b6b76"/>
                </a:solidFill>
                <a:effectLst/>
                <a:uFillTx/>
                <a:latin typeface="Calibri"/>
                <a:ea typeface="Calibri"/>
              </a:rPr>
              <a:t>anywhere on the internet</a:t>
            </a:r>
            <a:endParaRPr b="0" lang="en-SG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 6"/>
          <p:cNvSpPr/>
          <p:nvPr/>
        </p:nvSpPr>
        <p:spPr>
          <a:xfrm>
            <a:off x="2511000" y="2697480"/>
            <a:ext cx="5115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→</a:t>
            </a:r>
            <a:endParaRPr b="0" lang="en-SG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Shape 7"/>
          <p:cNvSpPr/>
          <p:nvPr/>
        </p:nvSpPr>
        <p:spPr>
          <a:xfrm>
            <a:off x="2893320" y="2148840"/>
            <a:ext cx="1965600" cy="1737000"/>
          </a:xfrm>
          <a:prstGeom prst="roundRect">
            <a:avLst>
              <a:gd name="adj" fmla="val 5263"/>
            </a:avLst>
          </a:prstGeom>
          <a:solidFill>
            <a:srgbClr val="f2f7fa"/>
          </a:solidFill>
          <a:ln w="12700">
            <a:solidFill>
              <a:srgbClr val="d7e4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SG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Shape 8"/>
          <p:cNvSpPr/>
          <p:nvPr/>
        </p:nvSpPr>
        <p:spPr>
          <a:xfrm>
            <a:off x="3556080" y="2404800"/>
            <a:ext cx="639720" cy="63972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SG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16" name="Image 1" descr="preencoded.png"/>
          <p:cNvPicPr/>
          <p:nvPr/>
        </p:nvPicPr>
        <p:blipFill>
          <a:blip r:embed="rId2"/>
          <a:stretch/>
        </p:blipFill>
        <p:spPr>
          <a:xfrm>
            <a:off x="3645720" y="2494440"/>
            <a:ext cx="46044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7" name="Text 9"/>
          <p:cNvSpPr/>
          <p:nvPr/>
        </p:nvSpPr>
        <p:spPr>
          <a:xfrm>
            <a:off x="2966400" y="3173040"/>
            <a:ext cx="18194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1a2733"/>
                </a:solidFill>
                <a:effectLst/>
                <a:uFillTx/>
                <a:latin typeface="Calibri"/>
                <a:ea typeface="Calibri"/>
              </a:rPr>
              <a:t>ngrok Edge</a:t>
            </a:r>
            <a:endParaRPr b="0" lang="en-SG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 10"/>
          <p:cNvSpPr/>
          <p:nvPr/>
        </p:nvSpPr>
        <p:spPr>
          <a:xfrm>
            <a:off x="2966400" y="3520440"/>
            <a:ext cx="1819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5b6b76"/>
                </a:solidFill>
                <a:effectLst/>
                <a:uFillTx/>
                <a:latin typeface="Calibri"/>
                <a:ea typeface="Calibri"/>
              </a:rPr>
              <a:t>public HTTPS URL</a:t>
            </a:r>
            <a:endParaRPr b="0" lang="en-SG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 11"/>
          <p:cNvSpPr/>
          <p:nvPr/>
        </p:nvSpPr>
        <p:spPr>
          <a:xfrm>
            <a:off x="4729320" y="2697480"/>
            <a:ext cx="5115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→</a:t>
            </a:r>
            <a:endParaRPr b="0" lang="en-SG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Shape 12"/>
          <p:cNvSpPr/>
          <p:nvPr/>
        </p:nvSpPr>
        <p:spPr>
          <a:xfrm>
            <a:off x="5111640" y="2148840"/>
            <a:ext cx="1965600" cy="1737000"/>
          </a:xfrm>
          <a:prstGeom prst="roundRect">
            <a:avLst>
              <a:gd name="adj" fmla="val 5263"/>
            </a:avLst>
          </a:prstGeom>
          <a:solidFill>
            <a:srgbClr val="f2f7fa"/>
          </a:solidFill>
          <a:ln w="12700">
            <a:solidFill>
              <a:srgbClr val="d7e4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SG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Shape 13"/>
          <p:cNvSpPr/>
          <p:nvPr/>
        </p:nvSpPr>
        <p:spPr>
          <a:xfrm>
            <a:off x="5774400" y="2404800"/>
            <a:ext cx="639720" cy="63972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SG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22" name="Image 2" descr="preencoded.png"/>
          <p:cNvPicPr/>
          <p:nvPr/>
        </p:nvPicPr>
        <p:blipFill>
          <a:blip r:embed="rId3"/>
          <a:stretch/>
        </p:blipFill>
        <p:spPr>
          <a:xfrm>
            <a:off x="5864040" y="2494440"/>
            <a:ext cx="46044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3" name="Text 14"/>
          <p:cNvSpPr/>
          <p:nvPr/>
        </p:nvSpPr>
        <p:spPr>
          <a:xfrm>
            <a:off x="5184720" y="3173040"/>
            <a:ext cx="18194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1a2733"/>
                </a:solidFill>
                <a:effectLst/>
                <a:uFillTx/>
                <a:latin typeface="Calibri"/>
                <a:ea typeface="Calibri"/>
              </a:rPr>
              <a:t>ngrok Agent</a:t>
            </a:r>
            <a:endParaRPr b="0" lang="en-SG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 15"/>
          <p:cNvSpPr/>
          <p:nvPr/>
        </p:nvSpPr>
        <p:spPr>
          <a:xfrm>
            <a:off x="5184720" y="3520440"/>
            <a:ext cx="1819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5b6b76"/>
                </a:solidFill>
                <a:effectLst/>
                <a:uFillTx/>
                <a:latin typeface="Calibri"/>
                <a:ea typeface="Calibri"/>
              </a:rPr>
              <a:t>running inside Studio</a:t>
            </a:r>
            <a:endParaRPr b="0" lang="en-SG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 16"/>
          <p:cNvSpPr/>
          <p:nvPr/>
        </p:nvSpPr>
        <p:spPr>
          <a:xfrm>
            <a:off x="6947640" y="2697480"/>
            <a:ext cx="5115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→</a:t>
            </a:r>
            <a:endParaRPr b="0" lang="en-SG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Shape 17"/>
          <p:cNvSpPr/>
          <p:nvPr/>
        </p:nvSpPr>
        <p:spPr>
          <a:xfrm>
            <a:off x="7329960" y="2148840"/>
            <a:ext cx="1965600" cy="1737000"/>
          </a:xfrm>
          <a:prstGeom prst="roundRect">
            <a:avLst>
              <a:gd name="adj" fmla="val 5263"/>
            </a:avLst>
          </a:prstGeom>
          <a:solidFill>
            <a:srgbClr val="f2f7fa"/>
          </a:solidFill>
          <a:ln w="12700">
            <a:solidFill>
              <a:srgbClr val="d7e4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SG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Shape 18"/>
          <p:cNvSpPr/>
          <p:nvPr/>
        </p:nvSpPr>
        <p:spPr>
          <a:xfrm>
            <a:off x="7992720" y="2404800"/>
            <a:ext cx="639720" cy="63972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SG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28" name="Image 3" descr="preencoded.png"/>
          <p:cNvPicPr/>
          <p:nvPr/>
        </p:nvPicPr>
        <p:blipFill>
          <a:blip r:embed="rId4"/>
          <a:stretch/>
        </p:blipFill>
        <p:spPr>
          <a:xfrm>
            <a:off x="8082360" y="2494440"/>
            <a:ext cx="46044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9" name="Text 19"/>
          <p:cNvSpPr/>
          <p:nvPr/>
        </p:nvSpPr>
        <p:spPr>
          <a:xfrm>
            <a:off x="7403040" y="3173040"/>
            <a:ext cx="18194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1a2733"/>
                </a:solidFill>
                <a:effectLst/>
                <a:uFillTx/>
                <a:latin typeface="Calibri"/>
                <a:ea typeface="Calibri"/>
              </a:rPr>
              <a:t>Streamlit :8501</a:t>
            </a:r>
            <a:endParaRPr b="0" lang="en-SG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 20"/>
          <p:cNvSpPr/>
          <p:nvPr/>
        </p:nvSpPr>
        <p:spPr>
          <a:xfrm>
            <a:off x="7403040" y="3520440"/>
            <a:ext cx="1819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5b6b76"/>
                </a:solidFill>
                <a:effectLst/>
                <a:uFillTx/>
                <a:latin typeface="Calibri"/>
                <a:ea typeface="Calibri"/>
              </a:rPr>
              <a:t>local web server</a:t>
            </a:r>
            <a:endParaRPr b="0" lang="en-SG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 21"/>
          <p:cNvSpPr/>
          <p:nvPr/>
        </p:nvSpPr>
        <p:spPr>
          <a:xfrm>
            <a:off x="9165960" y="2697480"/>
            <a:ext cx="5115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→</a:t>
            </a:r>
            <a:endParaRPr b="0" lang="en-SG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Shape 22"/>
          <p:cNvSpPr/>
          <p:nvPr/>
        </p:nvSpPr>
        <p:spPr>
          <a:xfrm>
            <a:off x="9548280" y="2148840"/>
            <a:ext cx="1965600" cy="1737000"/>
          </a:xfrm>
          <a:prstGeom prst="roundRect">
            <a:avLst>
              <a:gd name="adj" fmla="val 5263"/>
            </a:avLst>
          </a:prstGeom>
          <a:solidFill>
            <a:srgbClr val="21295c"/>
          </a:solidFill>
          <a:ln w="127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SG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3" name="Shape 23"/>
          <p:cNvSpPr/>
          <p:nvPr/>
        </p:nvSpPr>
        <p:spPr>
          <a:xfrm>
            <a:off x="10211040" y="2404800"/>
            <a:ext cx="639720" cy="63972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SG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34" name="Image 4" descr="preencoded.png"/>
          <p:cNvPicPr/>
          <p:nvPr/>
        </p:nvPicPr>
        <p:blipFill>
          <a:blip r:embed="rId5"/>
          <a:stretch/>
        </p:blipFill>
        <p:spPr>
          <a:xfrm>
            <a:off x="10300680" y="2494440"/>
            <a:ext cx="46044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5" name="Text 24"/>
          <p:cNvSpPr/>
          <p:nvPr/>
        </p:nvSpPr>
        <p:spPr>
          <a:xfrm>
            <a:off x="9621360" y="3173040"/>
            <a:ext cx="18194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SageMaker Endpoint</a:t>
            </a:r>
            <a:endParaRPr b="0" lang="en-SG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 25"/>
          <p:cNvSpPr/>
          <p:nvPr/>
        </p:nvSpPr>
        <p:spPr>
          <a:xfrm>
            <a:off x="9621360" y="3520440"/>
            <a:ext cx="1819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cfe3ef"/>
                </a:solidFill>
                <a:effectLst/>
                <a:uFillTx/>
                <a:latin typeface="Calibri"/>
                <a:ea typeface="Calibri"/>
              </a:rPr>
              <a:t>via boto3 + Studio IAM role</a:t>
            </a:r>
            <a:endParaRPr b="0" lang="en-SG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 26"/>
          <p:cNvSpPr/>
          <p:nvPr/>
        </p:nvSpPr>
        <p:spPr>
          <a:xfrm>
            <a:off x="548640" y="4251960"/>
            <a:ext cx="11091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trike="noStrike" u="none">
                <a:solidFill>
                  <a:srgbClr val="5b6b76"/>
                </a:solidFill>
                <a:effectLst/>
                <a:uFillTx/>
                <a:latin typeface="Calibri"/>
                <a:ea typeface="Calibri"/>
              </a:rPr>
              <a:t>ngrok only relays HTTP traffic — it never talks to AWS. Predictions still run through the Studio instance's own IAM role, exactly as they would locally.</a:t>
            </a:r>
            <a:endParaRPr b="0" lang="en-SG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 27"/>
          <p:cNvSpPr/>
          <p:nvPr/>
        </p:nvSpPr>
        <p:spPr>
          <a:xfrm>
            <a:off x="457200" y="653796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5b6b76"/>
                </a:solidFill>
                <a:effectLst/>
                <a:uFillTx/>
                <a:latin typeface="Calibri"/>
                <a:ea typeface="Calibri"/>
              </a:rPr>
              <a:t>My Rent &amp; Investment Estimator  |  ITI113 Team 08</a:t>
            </a:r>
            <a:endParaRPr b="0" lang="en-SG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 28"/>
          <p:cNvSpPr/>
          <p:nvPr/>
        </p:nvSpPr>
        <p:spPr>
          <a:xfrm>
            <a:off x="11521440" y="653796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5b6b76"/>
                </a:solidFill>
                <a:effectLst/>
                <a:uFillTx/>
                <a:latin typeface="Calibri"/>
                <a:ea typeface="Calibri"/>
              </a:rPr>
              <a:t>10</a:t>
            </a:r>
            <a:endParaRPr b="0" lang="en-SG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2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Shape 0"/>
          <p:cNvSpPr/>
          <p:nvPr/>
        </p:nvSpPr>
        <p:spPr>
          <a:xfrm>
            <a:off x="822960" y="685800"/>
            <a:ext cx="822600" cy="82260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SG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41" name="Image 0" descr="preencoded.png"/>
          <p:cNvPicPr/>
          <p:nvPr/>
        </p:nvPicPr>
        <p:blipFill>
          <a:blip r:embed="rId1"/>
          <a:stretch/>
        </p:blipFill>
        <p:spPr>
          <a:xfrm>
            <a:off x="938160" y="801000"/>
            <a:ext cx="592200" cy="592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2" name="Text 1"/>
          <p:cNvSpPr/>
          <p:nvPr/>
        </p:nvSpPr>
        <p:spPr>
          <a:xfrm>
            <a:off x="1828800" y="731520"/>
            <a:ext cx="91436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Conclusion &amp; Future Work</a:t>
            </a:r>
            <a:endParaRPr b="0" lang="en-SG" sz="3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 2"/>
          <p:cNvSpPr/>
          <p:nvPr/>
        </p:nvSpPr>
        <p:spPr>
          <a:xfrm>
            <a:off x="822960" y="1783080"/>
            <a:ext cx="10515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cfe3ef"/>
                </a:solidFill>
                <a:effectLst/>
                <a:uFillTx/>
                <a:latin typeface="Calibri"/>
                <a:ea typeface="Calibri"/>
              </a:rPr>
              <a:t>A complete MLOps workflow on AWS SageMaker — automated training, managed experiment tracking, conditional registration, real-time serving, and a public-facing application — with each layer able to evolve independently.</a:t>
            </a:r>
            <a:endParaRPr b="0" lang="en-SG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 3"/>
          <p:cNvSpPr/>
          <p:nvPr/>
        </p:nvSpPr>
        <p:spPr>
          <a:xfrm>
            <a:off x="822960" y="2697480"/>
            <a:ext cx="5486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Where this could go next:</a:t>
            </a:r>
            <a:endParaRPr b="0" lang="en-SG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5" name="Shape 4"/>
          <p:cNvSpPr/>
          <p:nvPr/>
        </p:nvSpPr>
        <p:spPr>
          <a:xfrm>
            <a:off x="822960" y="3255120"/>
            <a:ext cx="127800" cy="12780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SG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 5"/>
          <p:cNvSpPr/>
          <p:nvPr/>
        </p:nvSpPr>
        <p:spPr>
          <a:xfrm>
            <a:off x="1143000" y="3127320"/>
            <a:ext cx="100580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eaf2f7"/>
                </a:solidFill>
                <a:effectLst/>
                <a:uFillTx/>
                <a:latin typeface="Calibri"/>
                <a:ea typeface="Calibri"/>
              </a:rPr>
              <a:t>Add authentication to the public-facing application</a:t>
            </a:r>
            <a:endParaRPr b="0" lang="en-SG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7" name="Shape 6"/>
          <p:cNvSpPr/>
          <p:nvPr/>
        </p:nvSpPr>
        <p:spPr>
          <a:xfrm>
            <a:off x="822960" y="3822120"/>
            <a:ext cx="127800" cy="12780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SG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 7"/>
          <p:cNvSpPr/>
          <p:nvPr/>
        </p:nvSpPr>
        <p:spPr>
          <a:xfrm>
            <a:off x="1143000" y="3694320"/>
            <a:ext cx="100580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eaf2f7"/>
                </a:solidFill>
                <a:effectLst/>
                <a:uFillTx/>
                <a:latin typeface="Calibri"/>
                <a:ea typeface="Calibri"/>
              </a:rPr>
              <a:t>Move from ngrok to persistent hosting (EC2 / App Runner) for production availability</a:t>
            </a:r>
            <a:endParaRPr b="0" lang="en-SG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9" name="Shape 8"/>
          <p:cNvSpPr/>
          <p:nvPr/>
        </p:nvSpPr>
        <p:spPr>
          <a:xfrm>
            <a:off x="822960" y="4389120"/>
            <a:ext cx="127800" cy="12780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SG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 9"/>
          <p:cNvSpPr/>
          <p:nvPr/>
        </p:nvSpPr>
        <p:spPr>
          <a:xfrm>
            <a:off x="1143000" y="4260960"/>
            <a:ext cx="100580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eaf2f7"/>
                </a:solidFill>
                <a:effectLst/>
                <a:uFillTx/>
                <a:latin typeface="Calibri"/>
                <a:ea typeface="Calibri"/>
              </a:rPr>
              <a:t>Incorporate clustering-based features explored earlier as candidate model inputs</a:t>
            </a:r>
            <a:endParaRPr b="0" lang="en-SG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1" name="Shape 10"/>
          <p:cNvSpPr/>
          <p:nvPr/>
        </p:nvSpPr>
        <p:spPr>
          <a:xfrm>
            <a:off x="822960" y="4956120"/>
            <a:ext cx="127800" cy="12780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SG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 11"/>
          <p:cNvSpPr/>
          <p:nvPr/>
        </p:nvSpPr>
        <p:spPr>
          <a:xfrm>
            <a:off x="1143000" y="4827960"/>
            <a:ext cx="100580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eaf2f7"/>
                </a:solidFill>
                <a:effectLst/>
                <a:uFillTx/>
                <a:latin typeface="Calibri"/>
                <a:ea typeface="Calibri"/>
              </a:rPr>
              <a:t>Add automated monitoring and drift detection on the deployed endpoint</a:t>
            </a:r>
            <a:endParaRPr b="0" lang="en-SG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 12"/>
          <p:cNvSpPr/>
          <p:nvPr/>
        </p:nvSpPr>
        <p:spPr>
          <a:xfrm>
            <a:off x="822960" y="6035040"/>
            <a:ext cx="10515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600" strike="noStrike" u="none">
                <a:solidFill>
                  <a:srgbClr val="8fa5b3"/>
                </a:solidFill>
                <a:effectLst/>
                <a:uFillTx/>
                <a:latin typeface="Cambria"/>
                <a:ea typeface="Cambria"/>
              </a:rPr>
              <a:t>Thank you</a:t>
            </a:r>
            <a:endParaRPr b="0" lang="en-SG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 13"/>
          <p:cNvSpPr/>
          <p:nvPr/>
        </p:nvSpPr>
        <p:spPr>
          <a:xfrm>
            <a:off x="457200" y="653796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8fa5b3"/>
                </a:solidFill>
                <a:effectLst/>
                <a:uFillTx/>
                <a:latin typeface="Calibri"/>
                <a:ea typeface="Calibri"/>
              </a:rPr>
              <a:t>My Rent &amp; Investment Estimator  |  ITI113 Team 08</a:t>
            </a:r>
            <a:endParaRPr b="0" lang="en-SG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 14"/>
          <p:cNvSpPr/>
          <p:nvPr/>
        </p:nvSpPr>
        <p:spPr>
          <a:xfrm>
            <a:off x="11521440" y="653796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8fa5b3"/>
                </a:solidFill>
                <a:effectLst/>
                <a:uFillTx/>
                <a:latin typeface="Calibri"/>
                <a:ea typeface="Calibri"/>
              </a:rPr>
              <a:t>12</a:t>
            </a:r>
            <a:endParaRPr b="0" lang="en-SG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225</TotalTime>
  <Application>LibreOffice/25.2.7.2$Windows_X86_64 LibreOffice_project/5cbfd1ab6520636bb5f7b99185aa69bd7456825d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2026-08-23T12:17:37Z</dcterms:created>
  <dc:creator>PptxGenJS</dc:creator>
  <dc:description/>
  <dc:language>en-SG</dc:language>
  <cp:lastModifiedBy/>
  <dcterms:modified xsi:type="dcterms:W3CDTF">2026-08-26T23:05:39Z</dcterms:modified>
  <cp:revision>13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12</vt:i4>
  </property>
  <property fmtid="{D5CDD505-2E9C-101B-9397-08002B2CF9AE}" pid="3" name="PresentationFormat">
    <vt:lpwstr>On-screen Show (16:9)</vt:lpwstr>
  </property>
  <property fmtid="{D5CDD505-2E9C-101B-9397-08002B2CF9AE}" pid="4" name="Slides">
    <vt:i4>12</vt:i4>
  </property>
</Properties>
</file>